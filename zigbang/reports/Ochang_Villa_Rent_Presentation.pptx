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오늘 발표드릴 내용은 충북 청주시 청원구 오창읍 일대의 원룸 및 빌라 월세 시장을 심층 분석한 데이터 인텔리전스 리포트입니다. 오창읍은 이차전지와 반도체 소부장 특화단지, 방사광가속기 유치로 청년 연구원과 엔지니어의 유입이 매우 활발한 첨단 산업의 핵심 거점입니다. 본 보고서는 직방 게이트웨이 API를 통해 오창읍 전역의 실매물 603건을 전수 수집하여 결측률 0%로 검증된 데이터를 바탕으로, 가격 형성 원리와 관리비 착시 현상, 청년 1인 가구 특화 분석, 그리고 양청택지로 124-32 은하빌라B에 대한 정밀 입지 감정평가를 수학적으로 규명하였습니다.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오창읍 월세 시장의 3대 핵심 발견점을 요약해 드리겠습니다. 첫째, 오창읍은 보증금 300만 원, 월세 36만 원 선에 60% 이상의 매물이 집중되는 전형적인 가성비 앵커링 구조를 보입니다. 둘째, 표면 월세 뒤에 숨겨진 평균 10.4만 원의 관리비로 인해 실질 월 주거비는 46만 원에서 51만 원 수준에 형성됩니다. 셋째, 원룸이 72%를 차지하고 있으나 평당 단가 기준으로는 투룸이 약 26% 저렴하여, 넓은 공간을 원하는 임차인에게 투룸이 매우 매력적인 대안임을 밝혀냈습니다.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오창읍 입주자의 대다수를 차지하는 청년 1인 가구 분석입니다. 오창 산단 초임 엔지니어의 소득 대비 실질 주거비 부담률은 13~16%로, 수도권 1인 가구(30% 안팎)와 비교하면 주거비 부담이 절반에 불과하여 자산 형성에 매우 유리합니다. 룸타입은 평당 4.0만 원인 투룸이 가장 우수한 가성비를 보이며, 풀옵션 가구는 개별 가전 구매 대비 최소 150만 원 이상의 실질 절감 효과를 제공합니다.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특정 번지인 양청택지로 124-32, 은하빌라B에 대한 정밀 감정평가 결과입니다. 본 물건지는 오창호수공원과 중심상업지구에 도보 3~5분 내에 접근 가능한 핵심 주거지입니다. 반경 300m 이내 실거래 시세를 분석한 결과 평당 실질 주거비는 3.8만 원으로 오창읍 평균(5.2만 원) 대비 27% 우수한 가성비를 보유하고 있습니다. 원룸 기준 보증금 300에 월 30~35만 원, 투룸 기준 보증금 500에 월 45~50만 원이 가장 적정한 시세로 평가됩니다.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 슬라이드는 월세 및 실질 총 주거비용 분포 (히스토그램 &amp; KDE)에 대한 분석 결과입니다. 순수 월세와 실질 비용의 분포 차이 및 관리비 전가 현상. • 순수 월세 중위수: 36.0만 원 (평균 40.8만 원, 최빈 구간 30~35만 원) • 실질 총 주거비용 중위수: 46.0만 원 (평균 51.2만 원, 최빈 구간 40~45만 원) 이러한 분석 결과는 오창읍 임대차 시장에서 가격과 면적, 옵션 간의 실질적인 상관관계를 증명하며, 실수요자에게 합리적인 주거 선택의 기준을 제공합니다.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 슬라이드는 방 구조 유형별 매물 점유 비율에 대한 분석 결과입니다. 단독 원룸 72% 과점 구조와 1.5룸/투룸 공급 불균형. • 단독 원룸: 434건 (72.0%) - 단위 면적당 수익률 극대화 산물 • 투룸 (빌라/다가구): 94건 (15.6%) - 평균 면적 16.1평의 쾌적 공간 이러한 분석 결과는 오창읍 임대차 시장에서 가격과 면적, 옵션 간의 실질적인 상관관계를 증명하며, 실수요자에게 합리적인 주거 선택의 기준을 제공합니다.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 슬라이드는 세부 권역(리)별 월세 분포 및 이상치 비교에 대한 분석 결과입니다. 양청리(중심상업) vs 구룡리(구시가지) vs 주성리(2산단 신흥). • 양청리 (221건, 36.7%): 평균 37.0만 / 중위 31.0만 (호수공원 인접 핵심 선호지) • 구룡리 (91건, 15.1%): 평균 33.1만 / 중위 30.0만 (오창 내 최저가 가성비 원룸촌) 이러한 분석 결과는 오창읍 임대차 시장에서 가격과 면적, 옵션 간의 실질적인 상관관계를 증명하며, 실수요자에게 합리적인 주거 선택의 기준을 제공합니다.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 슬라이드는 전용면적(평) 대비 실질 총주거비 산점도 및 추세선에 대한 분석 결과입니다. 공간 면적 증가에 따른 실질 주거비의 체감 증가율. • 면적과 총주거비는 뚜렷한 양의 선형 관계 (피어슨 r = +0.63) • 7~10평 표준 원룸: 평균 실질비용 월 46.8만 원 (평당 5.4만 원) 이러한 분석 결과는 오창읍 임대차 시장에서 가격과 면적, 옵션 간의 실질적인 상관관계를 증명하며, 실수요자에게 합리적인 주거 선택의 기준을 제공합니다.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 슬라이드는 보증금 구간별 평균 월세 수준 및 매물 분포에 대한 분석 결과입니다. 300만 원 이하 저보증금 구조와 고액 보증금의 신축 편중. • 보증금 200만 이하(204건) 및 201~300만(165건)이 전체의 61.2% 차지 • 보증금 300만 이하 구간의 평균 월세는 34~36만 원 선으로 매우 안정적 이러한 분석 결과는 오창읍 임대차 시장에서 가격과 면적, 옵션 간의 실질적인 상관관계를 증명하며, 실수요자에게 합리적인 주거 선택의 기준을 제공합니다.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 슬라이드는 방 구조 유형별 평당 실질 주거비용 (가성비 지수)에 대한 분석 결과입니다. 복층형(3.9만) 및 투룸(4.0만)의 압도적 공간 가성비 우위. • 1위 (최고 효율): 복층형 원룸 - 평당 3.9만 원 (공간 활용 극대화) • 2위: 투룸 - 평당 4.0만 원 (16.1평의 넓은 공간을 월 64만 원에 향유) 이러한 분석 결과는 오창읍 임대차 시장에서 가격과 면적, 옵션 간의 실질적인 상관관계를 증명하며, 실수요자에게 합리적인 주거 선택의 기준을 제공합니다.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 슬라이드는 층수 카테고리별 평균 월세 및 전용면적 비교에 대한 분석 결과입니다. 저층(1층)의 할인 효과(월 6.3만 원)와 중·고층 선호도. • 중층 (2~4층, 370건): 평균 월세 42.0만 원 (시장 주력 선호층) • 저층 (1층, 80건): 평균 월세 35.7만 원 (중층 대비 월 6.3만 원 저렴) 이러한 분석 결과는 오창읍 임대차 시장에서 가격과 면적, 옵션 간의 실질적인 상관관계를 증명하며, 실수요자에게 합리적인 주거 선택의 기준을 제공합니다.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 슬라이드는 승강기 유무 및 풀옵션 여부별 월세 프리미엄에 대한 분석 결과입니다. 승강기 완비 건물의 월 +9.7만 원 압도적 프리미엄 규명. • 승강기(엘리베이터) 보유 비율: 오창 전체의 1.7% (10건)에 불과 • 엘리베이터 보유 시 평균 월세 50.3만 원 vs 미보유 시 40.6만 원 (+9.7만 원 차이) 이러한 분석 결과는 오창읍 임대차 시장에서 가격과 면적, 옵션 간의 실질적인 상관관계를 증명하며, 실수요자에게 합리적인 주거 선택의 기준을 제공합니다.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 슬라이드는 오창읍 매물 지리적 공간 분포 및 클러스터에 대한 분석 결과입니다. 양청리 호수공원 상권과 구룡리 원룸촌의 2대 지리적 중심축. • 제1축: 양청리 호수공원 상업지구 (Lat 36.712, Lng 127.428) - 221건 집중 • 제2축: 구룡리 먹자골목 원룸단지 (Lat 36.715, Lng 127.417) - 91건 집중 이러한 분석 결과는 오창읍 임대차 시장에서 가격과 면적, 옵션 간의 실질적인 상관관계를 증명하며, 실수요자에게 합리적인 주거 선택의 기준을 제공합니다.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 슬라이드는 Scikit-learn TF-IDF 핵심 키워드 Top 30에 대한 분석 결과입니다. 양청리, 풀옵션, 신축, 호수공원, 분리형, 주차의 6대 핵심 소구점. • 지역 브랜드 1위: '양청리' (38.4) 및 '구룡리' (24.8) • 상품 필수 속성: '풀옵션' (35.1), '신축' (22.3), '분리형' (18.2) 이러한 분석 결과는 오창읍 임대차 시장에서 가격과 면적, 옵션 간의 실질적인 상관관계를 증명하며, 실수요자에게 합리적인 주거 선택의 기준을 제공합니다.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 슬라이드는 주요 수치형 변수 간 피어슨 상관계수 매트릭스에 대한 분석 결과입니다. 월세-총비용의 완전 선형성(+0.98) 및 면적-평당비용의 음의 상관(-0.48). • 순수월세 ↔ 실질총주거비: r = +0.98 (실질 비용의 96%는 월세로 결정) • 전용면적 ↔ 순수월세: r = +0.64 (면적 1평 증가 시 정비례 월세 상승) 이러한 분석 결과는 오창읍 임대차 시장에서 가격과 면적, 옵션 간의 실질적인 상관관계를 증명하며, 실수요자에게 합리적인 주거 선택의 기준을 제공합니다.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오창읍 원룸·빌라 월세 시장에 대한 이해관계자별 종합 전략을 말씀드리겠습니다. 청년 임차인은 평당 가성비가 26% 뛰어난 투룸 매물을 적극 고려하고 관리비 합산 금액으로 예산을 통제해야 합니다. 임대인은 단순 풀옵션 경쟁을 지양하고 승강기나 주차, 1.5룸 구조 리모델링을 통해 차별화된 프리미엄을 창출해야 합니다. 지자체는 오창 첨단산단의 우수 청년 인재들이 안정적으로 정주할 수 있도록 실질 주거비 수준에 맞춘 지원책을 펼쳐야 합니다. 경청해 주셔서 대단히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731520"/>
            <a:ext cx="10728655" cy="53949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18320" cy="2743200"/>
          </a:xfrm>
          <a:prstGeom prst="rect">
            <a:avLst/>
          </a:prstGeom>
          <a:noFill/>
        </p:spPr>
        <p:txBody>
          <a:bodyPr wrap="square">
            <a:spAutoFit/>
          </a:bodyPr>
          <a:lstStyle/>
          <a:p>
            <a:r>
              <a:rPr sz="1200" b="1">
                <a:solidFill>
                  <a:srgbClr val="F59E0B"/>
                </a:solidFill>
                <a:latin typeface="Malgun Gothic"/>
              </a:rPr>
              <a:t>ZIGBANG REAL ESTATE BIG DATA INTELLIGENCE</a:t>
            </a:r>
          </a:p>
          <a:p>
            <a:pPr>
              <a:spcBef>
                <a:spcPts val="1400"/>
              </a:spcBef>
            </a:pPr>
            <a:r>
              <a:rPr sz="2800" b="1">
                <a:solidFill>
                  <a:srgbClr val="F8FAFC"/>
                </a:solidFill>
                <a:latin typeface="Malgun Gothic"/>
              </a:rPr>
              <a:t>오창읍 원룸·빌라 월세 시장 데이터 분석 리포트</a:t>
            </a:r>
          </a:p>
          <a:p>
            <a:pPr>
              <a:spcBef>
                <a:spcPts val="800"/>
              </a:spcBef>
            </a:pPr>
            <a:r>
              <a:rPr sz="1400">
                <a:solidFill>
                  <a:srgbClr val="94A3B8"/>
                </a:solidFill>
                <a:latin typeface="Malgun Gothic"/>
              </a:rPr>
              <a:t>오창산단 배후 603개 매물 전수 분석, 청년 1인 가구 가이드 및 양청택지로 124-32 감정평가</a:t>
            </a:r>
          </a:p>
          <a:p>
            <a:pPr>
              <a:spcBef>
                <a:spcPts val="2800"/>
              </a:spcBef>
            </a:pPr>
            <a:r>
              <a:rPr sz="1000">
                <a:solidFill>
                  <a:srgbClr val="94A3B8"/>
                </a:solidFill>
                <a:latin typeface="Malgun Gothic"/>
              </a:rPr>
              <a:t>발행일자: 2026년 10월 29일 | 수집 출처: 직방(Zigbang) 공식 Gateway API 전수 수집</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a:solidFill>
                  <a:srgbClr val="F59E0B"/>
                </a:solidFill>
                <a:latin typeface="Malgun Gothic"/>
              </a:rPr>
              <a:t>• EXECUTIVE SUMMARY</a:t>
            </a:r>
          </a:p>
        </p:txBody>
      </p:sp>
      <p:sp>
        <p:nvSpPr>
          <p:cNvPr id="3" name="TextBox 2"/>
          <p:cNvSpPr txBox="1"/>
          <p:nvPr/>
        </p:nvSpPr>
        <p:spPr>
          <a:xfrm>
            <a:off x="731520" y="685800"/>
            <a:ext cx="10515600" cy="502920"/>
          </a:xfrm>
          <a:prstGeom prst="rect">
            <a:avLst/>
          </a:prstGeom>
          <a:noFill/>
        </p:spPr>
        <p:txBody>
          <a:bodyPr wrap="square">
            <a:spAutoFit/>
          </a:bodyPr>
          <a:lstStyle/>
          <a:p>
            <a:r>
              <a:rPr sz="2000" b="1">
                <a:solidFill>
                  <a:srgbClr val="F8FAFC"/>
                </a:solidFill>
                <a:latin typeface="Malgun Gothic"/>
              </a:rPr>
              <a:t>경영 요약: 오창읍 월세 시장의 3대 핵심 구조적 특성</a:t>
            </a:r>
          </a:p>
        </p:txBody>
      </p:sp>
      <p:sp>
        <p:nvSpPr>
          <p:cNvPr id="4" name="TextBox 3"/>
          <p:cNvSpPr txBox="1"/>
          <p:nvPr/>
        </p:nvSpPr>
        <p:spPr>
          <a:xfrm>
            <a:off x="731520" y="1143000"/>
            <a:ext cx="10515600" cy="320040"/>
          </a:xfrm>
          <a:prstGeom prst="rect">
            <a:avLst/>
          </a:prstGeom>
          <a:noFill/>
        </p:spPr>
        <p:txBody>
          <a:bodyPr wrap="square">
            <a:spAutoFit/>
          </a:bodyPr>
          <a:lstStyle/>
          <a:p>
            <a:r>
              <a:rPr sz="1100">
                <a:solidFill>
                  <a:srgbClr val="94A3B8"/>
                </a:solidFill>
                <a:latin typeface="Malgun Gothic"/>
              </a:rPr>
              <a:t>603건 전수 조사로 규명된 가격 앵커링, 관리비 전가 및 투룸의 가성비 역전</a:t>
            </a:r>
          </a:p>
        </p:txBody>
      </p:sp>
      <p:sp>
        <p:nvSpPr>
          <p:cNvPr id="5" name="Rounded Rectangle 4"/>
          <p:cNvSpPr/>
          <p:nvPr/>
        </p:nvSpPr>
        <p:spPr>
          <a:xfrm>
            <a:off x="731520" y="1645920"/>
            <a:ext cx="342900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971800" cy="4114800"/>
          </a:xfrm>
          <a:prstGeom prst="rect">
            <a:avLst/>
          </a:prstGeom>
          <a:noFill/>
        </p:spPr>
        <p:txBody>
          <a:bodyPr wrap="square">
            <a:spAutoFit/>
          </a:bodyPr>
          <a:lstStyle/>
          <a:p>
            <a:r>
              <a:rPr sz="2400" b="1">
                <a:solidFill>
                  <a:srgbClr val="F59E0B"/>
                </a:solidFill>
                <a:latin typeface="Malgun Gothic"/>
              </a:rPr>
              <a:t>01</a:t>
            </a:r>
          </a:p>
          <a:p>
            <a:pPr>
              <a:spcBef>
                <a:spcPts val="800"/>
              </a:spcBef>
            </a:pPr>
            <a:r>
              <a:rPr sz="1400" b="1">
                <a:solidFill>
                  <a:srgbClr val="F8FAFC"/>
                </a:solidFill>
                <a:latin typeface="Malgun Gothic"/>
              </a:rPr>
              <a:t>가격 앵커링 &amp; 저보증금 구조</a:t>
            </a:r>
          </a:p>
          <a:p>
            <a:pPr>
              <a:spcBef>
                <a:spcPts val="400"/>
              </a:spcBef>
            </a:pPr>
            <a:r>
              <a:rPr sz="1100" b="1">
                <a:solidFill>
                  <a:srgbClr val="F59E0B"/>
                </a:solidFill>
                <a:latin typeface="Malgun Gothic"/>
              </a:rPr>
              <a:t>월세 36만 / 보증금 300만 집중</a:t>
            </a:r>
          </a:p>
          <a:p>
            <a:pPr>
              <a:spcBef>
                <a:spcPts val="1200"/>
              </a:spcBef>
            </a:pPr>
            <a:r>
              <a:rPr sz="1000">
                <a:solidFill>
                  <a:srgbClr val="94A3B8"/>
                </a:solidFill>
                <a:latin typeface="Malgun Gothic"/>
              </a:rPr>
              <a:t>오창읍 월세의 중위수는 36.0만 원(평균 40.8만), 보증금 중위수는 300만 원으로 전체의 61.2%가 300만 원 이하 저보증금에 포진하여 1인 가구 진입 장벽이 매우 낮습니다.</a:t>
            </a:r>
          </a:p>
        </p:txBody>
      </p:sp>
      <p:sp>
        <p:nvSpPr>
          <p:cNvPr id="7" name="Rounded Rectangle 6"/>
          <p:cNvSpPr/>
          <p:nvPr/>
        </p:nvSpPr>
        <p:spPr>
          <a:xfrm>
            <a:off x="4343400" y="1645920"/>
            <a:ext cx="342900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28800"/>
            <a:ext cx="2971800" cy="4114800"/>
          </a:xfrm>
          <a:prstGeom prst="rect">
            <a:avLst/>
          </a:prstGeom>
          <a:noFill/>
        </p:spPr>
        <p:txBody>
          <a:bodyPr wrap="square">
            <a:spAutoFit/>
          </a:bodyPr>
          <a:lstStyle/>
          <a:p>
            <a:r>
              <a:rPr sz="2400" b="1">
                <a:solidFill>
                  <a:srgbClr val="F43F5E"/>
                </a:solidFill>
                <a:latin typeface="Malgun Gothic"/>
              </a:rPr>
              <a:t>02</a:t>
            </a:r>
          </a:p>
          <a:p>
            <a:pPr>
              <a:spcBef>
                <a:spcPts val="800"/>
              </a:spcBef>
            </a:pPr>
            <a:r>
              <a:rPr sz="1400" b="1">
                <a:solidFill>
                  <a:srgbClr val="F8FAFC"/>
                </a:solidFill>
                <a:latin typeface="Malgun Gothic"/>
              </a:rPr>
              <a:t>관리비 착시와 실질 주거비</a:t>
            </a:r>
          </a:p>
          <a:p>
            <a:pPr>
              <a:spcBef>
                <a:spcPts val="400"/>
              </a:spcBef>
            </a:pPr>
            <a:r>
              <a:rPr sz="1100" b="1">
                <a:solidFill>
                  <a:srgbClr val="F43F5E"/>
                </a:solidFill>
                <a:latin typeface="Malgun Gothic"/>
              </a:rPr>
              <a:t>평균 관리비 10.4만 원 전가</a:t>
            </a:r>
          </a:p>
          <a:p>
            <a:pPr>
              <a:spcBef>
                <a:spcPts val="1200"/>
              </a:spcBef>
            </a:pPr>
            <a:r>
              <a:rPr sz="1000">
                <a:solidFill>
                  <a:srgbClr val="94A3B8"/>
                </a:solidFill>
                <a:latin typeface="Malgun Gothic"/>
              </a:rPr>
              <a:t>임대인들이 표면 월세 저항선을 회피하기 위해 관리비 항목으로 주거비를 전가하여, 실질 총 주거비용 중위수는 46.0만 원, 평균은 51.2만 원에 달합니다.</a:t>
            </a:r>
          </a:p>
        </p:txBody>
      </p:sp>
      <p:sp>
        <p:nvSpPr>
          <p:cNvPr id="9" name="Rounded Rectangle 8"/>
          <p:cNvSpPr/>
          <p:nvPr/>
        </p:nvSpPr>
        <p:spPr>
          <a:xfrm>
            <a:off x="7955280" y="1645920"/>
            <a:ext cx="342900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828800"/>
            <a:ext cx="2971800" cy="4114800"/>
          </a:xfrm>
          <a:prstGeom prst="rect">
            <a:avLst/>
          </a:prstGeom>
          <a:noFill/>
        </p:spPr>
        <p:txBody>
          <a:bodyPr wrap="square">
            <a:spAutoFit/>
          </a:bodyPr>
          <a:lstStyle/>
          <a:p>
            <a:r>
              <a:rPr sz="2400" b="1">
                <a:solidFill>
                  <a:srgbClr val="3B82F6"/>
                </a:solidFill>
                <a:latin typeface="Malgun Gothic"/>
              </a:rPr>
              <a:t>03</a:t>
            </a:r>
          </a:p>
          <a:p>
            <a:pPr>
              <a:spcBef>
                <a:spcPts val="800"/>
              </a:spcBef>
            </a:pPr>
            <a:r>
              <a:rPr sz="1400" b="1">
                <a:solidFill>
                  <a:srgbClr val="F8FAFC"/>
                </a:solidFill>
                <a:latin typeface="Malgun Gothic"/>
              </a:rPr>
              <a:t>투룸의 평당 가성비 역전</a:t>
            </a:r>
          </a:p>
          <a:p>
            <a:pPr>
              <a:spcBef>
                <a:spcPts val="400"/>
              </a:spcBef>
            </a:pPr>
            <a:r>
              <a:rPr sz="1100" b="1">
                <a:solidFill>
                  <a:srgbClr val="3B82F6"/>
                </a:solidFill>
                <a:latin typeface="Malgun Gothic"/>
              </a:rPr>
              <a:t>투룸 4.0만 vs 원룸 5.4만/평</a:t>
            </a:r>
          </a:p>
          <a:p>
            <a:pPr>
              <a:spcBef>
                <a:spcPts val="1200"/>
              </a:spcBef>
            </a:pPr>
            <a:r>
              <a:rPr sz="1000">
                <a:solidFill>
                  <a:srgbClr val="94A3B8"/>
                </a:solidFill>
                <a:latin typeface="Malgun Gothic"/>
              </a:rPr>
              <a:t>단독 원룸(72%)이 시장을 과점하고 있으나, 평당 실질비용은 투룸(4.0만 원/평)이 원룸(5.4만 원/평) 대비 25.9% 저렴하여 규모의 경제가 발생합니다.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a:solidFill>
                  <a:srgbClr val="F59E0B"/>
                </a:solidFill>
                <a:latin typeface="Malgun Gothic"/>
              </a:rPr>
              <a:t>• FOCUS 01</a:t>
            </a:r>
          </a:p>
        </p:txBody>
      </p:sp>
      <p:sp>
        <p:nvSpPr>
          <p:cNvPr id="3" name="TextBox 2"/>
          <p:cNvSpPr txBox="1"/>
          <p:nvPr/>
        </p:nvSpPr>
        <p:spPr>
          <a:xfrm>
            <a:off x="731520" y="685800"/>
            <a:ext cx="10515600" cy="502920"/>
          </a:xfrm>
          <a:prstGeom prst="rect">
            <a:avLst/>
          </a:prstGeom>
          <a:noFill/>
        </p:spPr>
        <p:txBody>
          <a:bodyPr wrap="square">
            <a:spAutoFit/>
          </a:bodyPr>
          <a:lstStyle/>
          <a:p>
            <a:r>
              <a:rPr sz="2000" b="1">
                <a:solidFill>
                  <a:srgbClr val="F8FAFC"/>
                </a:solidFill>
                <a:latin typeface="Malgun Gothic"/>
              </a:rPr>
              <a:t>[특집 1] 청년 1인 가구를 위한 정밀 주거 인텔리전스</a:t>
            </a:r>
          </a:p>
        </p:txBody>
      </p:sp>
      <p:sp>
        <p:nvSpPr>
          <p:cNvPr id="4" name="TextBox 3"/>
          <p:cNvSpPr txBox="1"/>
          <p:nvPr/>
        </p:nvSpPr>
        <p:spPr>
          <a:xfrm>
            <a:off x="731520" y="1143000"/>
            <a:ext cx="10515600" cy="320040"/>
          </a:xfrm>
          <a:prstGeom prst="rect">
            <a:avLst/>
          </a:prstGeom>
          <a:noFill/>
        </p:spPr>
        <p:txBody>
          <a:bodyPr wrap="square">
            <a:spAutoFit/>
          </a:bodyPr>
          <a:lstStyle/>
          <a:p>
            <a:r>
              <a:rPr sz="1100">
                <a:solidFill>
                  <a:srgbClr val="94A3B8"/>
                </a:solidFill>
                <a:latin typeface="Malgun Gothic"/>
              </a:rPr>
              <a:t>소득 대비 주거비 부담률(RIR) 13~16%, 최적 룸타입 매트릭스 및 풀옵션 경제성</a:t>
            </a:r>
          </a:p>
        </p:txBody>
      </p:sp>
      <p:sp>
        <p:nvSpPr>
          <p:cNvPr id="5" name="Rounded Rectangle 4"/>
          <p:cNvSpPr/>
          <p:nvPr/>
        </p:nvSpPr>
        <p:spPr>
          <a:xfrm>
            <a:off x="731520" y="1645920"/>
            <a:ext cx="342900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971800" cy="4114800"/>
          </a:xfrm>
          <a:prstGeom prst="rect">
            <a:avLst/>
          </a:prstGeom>
          <a:noFill/>
        </p:spPr>
        <p:txBody>
          <a:bodyPr wrap="square">
            <a:spAutoFit/>
          </a:bodyPr>
          <a:lstStyle/>
          <a:p>
            <a:r>
              <a:rPr sz="1400" b="1">
                <a:solidFill>
                  <a:srgbClr val="3B82F6"/>
                </a:solidFill>
                <a:latin typeface="Malgun Gothic"/>
              </a:rPr>
              <a:t>소득 대비 RIR 분석</a:t>
            </a:r>
          </a:p>
          <a:p>
            <a:pPr>
              <a:spcBef>
                <a:spcPts val="400"/>
              </a:spcBef>
            </a:pPr>
            <a:r>
              <a:rPr sz="1100" b="1">
                <a:solidFill>
                  <a:srgbClr val="F8FAFC"/>
                </a:solidFill>
                <a:latin typeface="Malgun Gothic"/>
              </a:rPr>
              <a:t>월 소득의 13~16% 건강한 지출 구조</a:t>
            </a:r>
          </a:p>
          <a:p>
            <a:pPr>
              <a:spcBef>
                <a:spcPts val="800"/>
              </a:spcBef>
            </a:pPr>
            <a:r>
              <a:rPr sz="950">
                <a:solidFill>
                  <a:srgbClr val="94A3B8"/>
                </a:solidFill>
                <a:latin typeface="Malgun Gothic"/>
              </a:rPr>
              <a:t>• 산단 초임 세후 소득: 약 280만~350만 원</a:t>
            </a:r>
          </a:p>
          <a:p>
            <a:pPr>
              <a:spcBef>
                <a:spcPts val="800"/>
              </a:spcBef>
            </a:pPr>
            <a:r>
              <a:rPr sz="950">
                <a:solidFill>
                  <a:srgbClr val="94A3B8"/>
                </a:solidFill>
                <a:latin typeface="Malgun Gothic"/>
              </a:rPr>
              <a:t>• 실질 주거비 중위수: 46.0만 원</a:t>
            </a:r>
          </a:p>
          <a:p>
            <a:pPr>
              <a:spcBef>
                <a:spcPts val="800"/>
              </a:spcBef>
            </a:pPr>
            <a:r>
              <a:rPr sz="950">
                <a:solidFill>
                  <a:srgbClr val="94A3B8"/>
                </a:solidFill>
                <a:latin typeface="Malgun Gothic"/>
              </a:rPr>
              <a:t>• RIR 13.1%~16.4%: 수도권(30%대) 대비 절반 수준으로 초기 자산 모으기에 최적</a:t>
            </a:r>
          </a:p>
        </p:txBody>
      </p:sp>
      <p:sp>
        <p:nvSpPr>
          <p:cNvPr id="7" name="Rounded Rectangle 6"/>
          <p:cNvSpPr/>
          <p:nvPr/>
        </p:nvSpPr>
        <p:spPr>
          <a:xfrm>
            <a:off x="4343400" y="1645920"/>
            <a:ext cx="342900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28800"/>
            <a:ext cx="2971800" cy="4114800"/>
          </a:xfrm>
          <a:prstGeom prst="rect">
            <a:avLst/>
          </a:prstGeom>
          <a:noFill/>
        </p:spPr>
        <p:txBody>
          <a:bodyPr wrap="square">
            <a:spAutoFit/>
          </a:bodyPr>
          <a:lstStyle/>
          <a:p>
            <a:r>
              <a:rPr sz="1400" b="1">
                <a:solidFill>
                  <a:srgbClr val="F59E0B"/>
                </a:solidFill>
                <a:latin typeface="Malgun Gothic"/>
              </a:rPr>
              <a:t>1인 가구 룸타입 매트릭스</a:t>
            </a:r>
          </a:p>
          <a:p>
            <a:pPr>
              <a:spcBef>
                <a:spcPts val="400"/>
              </a:spcBef>
            </a:pPr>
            <a:r>
              <a:rPr sz="1100" b="1">
                <a:solidFill>
                  <a:srgbClr val="F8FAFC"/>
                </a:solidFill>
                <a:latin typeface="Malgun Gothic"/>
              </a:rPr>
              <a:t>가성비 순위: 투룸 &gt; 1.5룸 &gt; 원룸</a:t>
            </a:r>
          </a:p>
          <a:p>
            <a:pPr>
              <a:spcBef>
                <a:spcPts val="800"/>
              </a:spcBef>
            </a:pPr>
            <a:r>
              <a:rPr sz="950">
                <a:solidFill>
                  <a:srgbClr val="94A3B8"/>
                </a:solidFill>
                <a:latin typeface="Malgun Gothic"/>
              </a:rPr>
              <a:t>• 투룸 (16.1평): 평당 4.0만 원 (최고 공간 효율)</a:t>
            </a:r>
          </a:p>
          <a:p>
            <a:pPr>
              <a:spcBef>
                <a:spcPts val="800"/>
              </a:spcBef>
            </a:pPr>
            <a:r>
              <a:rPr sz="950">
                <a:solidFill>
                  <a:srgbClr val="94A3B8"/>
                </a:solidFill>
                <a:latin typeface="Malgun Gothic"/>
              </a:rPr>
              <a:t>• 1.5룸 (7.8평): 실질 월 42.3만 원 (최저 지출형)</a:t>
            </a:r>
          </a:p>
          <a:p>
            <a:pPr>
              <a:spcBef>
                <a:spcPts val="800"/>
              </a:spcBef>
            </a:pPr>
            <a:r>
              <a:rPr sz="950">
                <a:solidFill>
                  <a:srgbClr val="94A3B8"/>
                </a:solidFill>
                <a:latin typeface="Malgun Gothic"/>
              </a:rPr>
              <a:t>• 단독 원룸 (9.5평): 평당 5.4만 원 (기본 숙식형)</a:t>
            </a:r>
          </a:p>
          <a:p>
            <a:pPr>
              <a:spcBef>
                <a:spcPts val="800"/>
              </a:spcBef>
            </a:pPr>
            <a:r>
              <a:rPr sz="950">
                <a:solidFill>
                  <a:srgbClr val="94A3B8"/>
                </a:solidFill>
                <a:latin typeface="Malgun Gothic"/>
              </a:rPr>
              <a:t>• 투룸 임차 시 서재/침실 분리로 거주 만족도 극대화</a:t>
            </a:r>
          </a:p>
        </p:txBody>
      </p:sp>
      <p:sp>
        <p:nvSpPr>
          <p:cNvPr id="9" name="Rounded Rectangle 8"/>
          <p:cNvSpPr/>
          <p:nvPr/>
        </p:nvSpPr>
        <p:spPr>
          <a:xfrm>
            <a:off x="7955280" y="1645920"/>
            <a:ext cx="342900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828800"/>
            <a:ext cx="2971800" cy="4114800"/>
          </a:xfrm>
          <a:prstGeom prst="rect">
            <a:avLst/>
          </a:prstGeom>
          <a:noFill/>
        </p:spPr>
        <p:txBody>
          <a:bodyPr wrap="square">
            <a:spAutoFit/>
          </a:bodyPr>
          <a:lstStyle/>
          <a:p>
            <a:r>
              <a:rPr sz="1400" b="1">
                <a:solidFill>
                  <a:srgbClr val="14B8A6"/>
                </a:solidFill>
                <a:latin typeface="Malgun Gothic"/>
              </a:rPr>
              <a:t>풀옵션 7대 스펙 경제성</a:t>
            </a:r>
          </a:p>
          <a:p>
            <a:pPr>
              <a:spcBef>
                <a:spcPts val="400"/>
              </a:spcBef>
            </a:pPr>
            <a:r>
              <a:rPr sz="1100" b="1">
                <a:solidFill>
                  <a:srgbClr val="F8FAFC"/>
                </a:solidFill>
                <a:latin typeface="Malgun Gothic"/>
              </a:rPr>
              <a:t>가전 구매비 250만 원 이상 절감</a:t>
            </a:r>
          </a:p>
          <a:p>
            <a:pPr>
              <a:spcBef>
                <a:spcPts val="800"/>
              </a:spcBef>
            </a:pPr>
            <a:r>
              <a:rPr sz="950">
                <a:solidFill>
                  <a:srgbClr val="94A3B8"/>
                </a:solidFill>
                <a:latin typeface="Malgun Gothic"/>
              </a:rPr>
              <a:t>• 필수 7종: 에어컨, 세탁기, 냉장고, 인덕션, 전자레인지, 도어락, 붙박이장</a:t>
            </a:r>
          </a:p>
          <a:p>
            <a:pPr>
              <a:spcBef>
                <a:spcPts val="800"/>
              </a:spcBef>
            </a:pPr>
            <a:r>
              <a:rPr sz="950">
                <a:solidFill>
                  <a:srgbClr val="94A3B8"/>
                </a:solidFill>
                <a:latin typeface="Malgun Gothic"/>
              </a:rPr>
              <a:t>• 풀옵션 매물(42.3만) vs 일반(40.4만) 차이는 월 1.9만 원에 불과</a:t>
            </a:r>
          </a:p>
          <a:p>
            <a:pPr>
              <a:spcBef>
                <a:spcPts val="800"/>
              </a:spcBef>
            </a:pPr>
            <a:r>
              <a:rPr sz="950">
                <a:solidFill>
                  <a:srgbClr val="94A3B8"/>
                </a:solidFill>
                <a:latin typeface="Malgun Gothic"/>
              </a:rPr>
              <a:t>• 가전 구입 대비 2년 거주 기준 최소 150만 원 순이득</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a:solidFill>
                  <a:srgbClr val="F59E0B"/>
                </a:solidFill>
                <a:latin typeface="Malgun Gothic"/>
              </a:rPr>
              <a:t>• FOCUS 02</a:t>
            </a:r>
          </a:p>
        </p:txBody>
      </p:sp>
      <p:sp>
        <p:nvSpPr>
          <p:cNvPr id="3" name="TextBox 2"/>
          <p:cNvSpPr txBox="1"/>
          <p:nvPr/>
        </p:nvSpPr>
        <p:spPr>
          <a:xfrm>
            <a:off x="731520" y="685800"/>
            <a:ext cx="10515600" cy="502920"/>
          </a:xfrm>
          <a:prstGeom prst="rect">
            <a:avLst/>
          </a:prstGeom>
          <a:noFill/>
        </p:spPr>
        <p:txBody>
          <a:bodyPr wrap="square">
            <a:spAutoFit/>
          </a:bodyPr>
          <a:lstStyle/>
          <a:p>
            <a:r>
              <a:rPr sz="2000" b="1">
                <a:solidFill>
                  <a:srgbClr val="F8FAFC"/>
                </a:solidFill>
                <a:latin typeface="Malgun Gothic"/>
              </a:rPr>
              <a:t>[특집 2] 특정 번지 정밀 감정평가: 양청택지로 124-32 (은하빌라B)</a:t>
            </a:r>
          </a:p>
        </p:txBody>
      </p:sp>
      <p:sp>
        <p:nvSpPr>
          <p:cNvPr id="4" name="TextBox 3"/>
          <p:cNvSpPr txBox="1"/>
          <p:nvPr/>
        </p:nvSpPr>
        <p:spPr>
          <a:xfrm>
            <a:off x="731520" y="1143000"/>
            <a:ext cx="10515600" cy="320040"/>
          </a:xfrm>
          <a:prstGeom prst="rect">
            <a:avLst/>
          </a:prstGeom>
          <a:noFill/>
        </p:spPr>
        <p:txBody>
          <a:bodyPr wrap="square">
            <a:spAutoFit/>
          </a:bodyPr>
          <a:lstStyle/>
          <a:p>
            <a:r>
              <a:rPr sz="1100">
                <a:solidFill>
                  <a:srgbClr val="94A3B8"/>
                </a:solidFill>
                <a:latin typeface="Malgun Gothic"/>
              </a:rPr>
              <a:t>오창호수공원 남측 중심상권 도보 5분 주거-상업 완충지 및 시세 감정 결과</a:t>
            </a:r>
          </a:p>
        </p:txBody>
      </p:sp>
      <p:sp>
        <p:nvSpPr>
          <p:cNvPr id="5" name="Rounded Rectangle 4"/>
          <p:cNvSpPr/>
          <p:nvPr/>
        </p:nvSpPr>
        <p:spPr>
          <a:xfrm>
            <a:off x="731520" y="1645920"/>
            <a:ext cx="342900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971800" cy="4114800"/>
          </a:xfrm>
          <a:prstGeom prst="rect">
            <a:avLst/>
          </a:prstGeom>
          <a:noFill/>
        </p:spPr>
        <p:txBody>
          <a:bodyPr wrap="square">
            <a:spAutoFit/>
          </a:bodyPr>
          <a:lstStyle/>
          <a:p>
            <a:r>
              <a:rPr sz="1400" b="1">
                <a:solidFill>
                  <a:srgbClr val="F59E0B"/>
                </a:solidFill>
                <a:latin typeface="Malgun Gothic"/>
              </a:rPr>
              <a:t>물건지 개요 &amp; 입지 환경</a:t>
            </a:r>
          </a:p>
          <a:p>
            <a:pPr>
              <a:spcBef>
                <a:spcPts val="400"/>
              </a:spcBef>
            </a:pPr>
            <a:r>
              <a:rPr sz="1100" b="1">
                <a:solidFill>
                  <a:srgbClr val="F8FAFC"/>
                </a:solidFill>
                <a:latin typeface="Malgun Gothic"/>
              </a:rPr>
              <a:t>도보 상권과 주거 쾌적성의 황금 밸런스</a:t>
            </a:r>
          </a:p>
          <a:p>
            <a:pPr>
              <a:spcBef>
                <a:spcPts val="800"/>
              </a:spcBef>
            </a:pPr>
            <a:r>
              <a:rPr sz="950">
                <a:solidFill>
                  <a:srgbClr val="94A3B8"/>
                </a:solidFill>
                <a:latin typeface="Malgun Gothic"/>
              </a:rPr>
              <a:t>• 소재지: 청원구 오창읍 양청택지로 124-32 (양청리 731-4)</a:t>
            </a:r>
          </a:p>
          <a:p>
            <a:pPr>
              <a:spcBef>
                <a:spcPts val="800"/>
              </a:spcBef>
            </a:pPr>
            <a:r>
              <a:rPr sz="950">
                <a:solidFill>
                  <a:srgbClr val="94A3B8"/>
                </a:solidFill>
                <a:latin typeface="Malgun Gothic"/>
              </a:rPr>
              <a:t>• 건물명: 은하빌라B (다가구/다세대 주택)</a:t>
            </a:r>
          </a:p>
          <a:p>
            <a:pPr>
              <a:spcBef>
                <a:spcPts val="800"/>
              </a:spcBef>
            </a:pPr>
            <a:r>
              <a:rPr sz="950">
                <a:solidFill>
                  <a:srgbClr val="94A3B8"/>
                </a:solidFill>
                <a:latin typeface="Malgun Gothic"/>
              </a:rPr>
              <a:t>• 호수공원 남측 도보 5~7분, 메가박스/중심상가 도보 3분</a:t>
            </a:r>
          </a:p>
          <a:p>
            <a:pPr>
              <a:spcBef>
                <a:spcPts val="800"/>
              </a:spcBef>
            </a:pPr>
            <a:r>
              <a:rPr sz="950">
                <a:solidFill>
                  <a:srgbClr val="94A3B8"/>
                </a:solidFill>
                <a:latin typeface="Malgun Gothic"/>
              </a:rPr>
              <a:t>• 상가 소음을 한 블록 비껴서 조용하면서도 인프라 향유 최적</a:t>
            </a:r>
          </a:p>
        </p:txBody>
      </p:sp>
      <p:sp>
        <p:nvSpPr>
          <p:cNvPr id="7" name="Rounded Rectangle 6"/>
          <p:cNvSpPr/>
          <p:nvPr/>
        </p:nvSpPr>
        <p:spPr>
          <a:xfrm>
            <a:off x="4343400" y="1645920"/>
            <a:ext cx="342900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28800"/>
            <a:ext cx="2971800" cy="4114800"/>
          </a:xfrm>
          <a:prstGeom prst="rect">
            <a:avLst/>
          </a:prstGeom>
          <a:noFill/>
        </p:spPr>
        <p:txBody>
          <a:bodyPr wrap="square">
            <a:spAutoFit/>
          </a:bodyPr>
          <a:lstStyle/>
          <a:p>
            <a:r>
              <a:rPr sz="1400" b="1">
                <a:solidFill>
                  <a:srgbClr val="F43F5E"/>
                </a:solidFill>
                <a:latin typeface="Malgun Gothic"/>
              </a:rPr>
              <a:t>반경 300m 주변 시세 벤치마크</a:t>
            </a:r>
          </a:p>
          <a:p>
            <a:pPr>
              <a:spcBef>
                <a:spcPts val="400"/>
              </a:spcBef>
            </a:pPr>
            <a:r>
              <a:rPr sz="1100" b="1">
                <a:solidFill>
                  <a:srgbClr val="F8FAFC"/>
                </a:solidFill>
                <a:latin typeface="Malgun Gothic"/>
              </a:rPr>
              <a:t>평당 3.8만 원의 강력한 공간 가성비</a:t>
            </a:r>
          </a:p>
          <a:p>
            <a:pPr>
              <a:spcBef>
                <a:spcPts val="800"/>
              </a:spcBef>
            </a:pPr>
            <a:r>
              <a:rPr sz="950">
                <a:solidFill>
                  <a:srgbClr val="94A3B8"/>
                </a:solidFill>
                <a:latin typeface="Malgun Gothic"/>
              </a:rPr>
              <a:t>• 반경 300m 평균 보증금: 300만 원 (안정적)</a:t>
            </a:r>
          </a:p>
          <a:p>
            <a:pPr>
              <a:spcBef>
                <a:spcPts val="800"/>
              </a:spcBef>
            </a:pPr>
            <a:r>
              <a:rPr sz="950">
                <a:solidFill>
                  <a:srgbClr val="94A3B8"/>
                </a:solidFill>
                <a:latin typeface="Malgun Gothic"/>
              </a:rPr>
              <a:t>• 반경 300m 평균 순수월세: 50.0만 원 (14.5평 기준)</a:t>
            </a:r>
          </a:p>
          <a:p>
            <a:pPr>
              <a:spcBef>
                <a:spcPts val="800"/>
              </a:spcBef>
            </a:pPr>
            <a:r>
              <a:rPr sz="950">
                <a:solidFill>
                  <a:srgbClr val="94A3B8"/>
                </a:solidFill>
                <a:latin typeface="Malgun Gothic"/>
              </a:rPr>
              <a:t>• 평당 실질 주거비: 3.8만 원/평</a:t>
            </a:r>
          </a:p>
          <a:p>
            <a:pPr>
              <a:spcBef>
                <a:spcPts val="800"/>
              </a:spcBef>
            </a:pPr>
            <a:r>
              <a:rPr sz="950">
                <a:solidFill>
                  <a:srgbClr val="94A3B8"/>
                </a:solidFill>
                <a:latin typeface="Malgun Gothic"/>
              </a:rPr>
              <a:t>• 오창읍 전체 평균(5.2만 원) 대비 약 27% 우수한 가성비</a:t>
            </a:r>
          </a:p>
        </p:txBody>
      </p:sp>
      <p:sp>
        <p:nvSpPr>
          <p:cNvPr id="9" name="Rounded Rectangle 8"/>
          <p:cNvSpPr/>
          <p:nvPr/>
        </p:nvSpPr>
        <p:spPr>
          <a:xfrm>
            <a:off x="7955280" y="1645920"/>
            <a:ext cx="342900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828800"/>
            <a:ext cx="2971800" cy="4114800"/>
          </a:xfrm>
          <a:prstGeom prst="rect">
            <a:avLst/>
          </a:prstGeom>
          <a:noFill/>
        </p:spPr>
        <p:txBody>
          <a:bodyPr wrap="square">
            <a:spAutoFit/>
          </a:bodyPr>
          <a:lstStyle/>
          <a:p>
            <a:r>
              <a:rPr sz="1400" b="1">
                <a:solidFill>
                  <a:srgbClr val="3B82F6"/>
                </a:solidFill>
                <a:latin typeface="Malgun Gothic"/>
              </a:rPr>
              <a:t>적정 임대료 감정가 &amp; 체크포인트</a:t>
            </a:r>
          </a:p>
          <a:p>
            <a:pPr>
              <a:spcBef>
                <a:spcPts val="400"/>
              </a:spcBef>
            </a:pPr>
            <a:r>
              <a:rPr sz="1100" b="1">
                <a:solidFill>
                  <a:srgbClr val="F8FAFC"/>
                </a:solidFill>
                <a:latin typeface="Malgun Gothic"/>
              </a:rPr>
              <a:t>실거주자를 위한 현장 가이드</a:t>
            </a:r>
          </a:p>
          <a:p>
            <a:pPr>
              <a:spcBef>
                <a:spcPts val="800"/>
              </a:spcBef>
            </a:pPr>
            <a:r>
              <a:rPr sz="950">
                <a:solidFill>
                  <a:srgbClr val="94A3B8"/>
                </a:solidFill>
                <a:latin typeface="Malgun Gothic"/>
              </a:rPr>
              <a:t>• 원룸 적정 임대료: 보증금 200~300만 / 월세 30~35만</a:t>
            </a:r>
          </a:p>
          <a:p>
            <a:pPr>
              <a:spcBef>
                <a:spcPts val="800"/>
              </a:spcBef>
            </a:pPr>
            <a:r>
              <a:rPr sz="950">
                <a:solidFill>
                  <a:srgbClr val="94A3B8"/>
                </a:solidFill>
                <a:latin typeface="Malgun Gothic"/>
              </a:rPr>
              <a:t>• 투룸 적정 임대료: 보증금 300~500만 / 월세 45~52만</a:t>
            </a:r>
          </a:p>
          <a:p>
            <a:pPr>
              <a:spcBef>
                <a:spcPts val="800"/>
              </a:spcBef>
            </a:pPr>
            <a:r>
              <a:rPr sz="950">
                <a:solidFill>
                  <a:srgbClr val="94A3B8"/>
                </a:solidFill>
                <a:latin typeface="Malgun Gothic"/>
              </a:rPr>
              <a:t>• 빌라 특성상 승강기 부재 가능성 (2~3층 로열층 선호)</a:t>
            </a:r>
          </a:p>
          <a:p>
            <a:pPr>
              <a:spcBef>
                <a:spcPts val="800"/>
              </a:spcBef>
            </a:pPr>
            <a:r>
              <a:rPr sz="950">
                <a:solidFill>
                  <a:srgbClr val="94A3B8"/>
                </a:solidFill>
                <a:latin typeface="Malgun Gothic"/>
              </a:rPr>
              <a:t>• 관리비 포함 항목(수도/인터넷) 및 주차 공간 사전 확인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a:solidFill>
                  <a:srgbClr val="F59E0B"/>
                </a:solidFill>
                <a:latin typeface="Malgun Gothic"/>
              </a:rPr>
              <a:t>• CHART 01</a:t>
            </a:r>
          </a:p>
        </p:txBody>
      </p:sp>
      <p:sp>
        <p:nvSpPr>
          <p:cNvPr id="3" name="TextBox 2"/>
          <p:cNvSpPr txBox="1"/>
          <p:nvPr/>
        </p:nvSpPr>
        <p:spPr>
          <a:xfrm>
            <a:off x="731520" y="685800"/>
            <a:ext cx="10515600" cy="502920"/>
          </a:xfrm>
          <a:prstGeom prst="rect">
            <a:avLst/>
          </a:prstGeom>
          <a:noFill/>
        </p:spPr>
        <p:txBody>
          <a:bodyPr wrap="square">
            <a:spAutoFit/>
          </a:bodyPr>
          <a:lstStyle/>
          <a:p>
            <a:r>
              <a:rPr sz="2000" b="1">
                <a:solidFill>
                  <a:srgbClr val="F8FAFC"/>
                </a:solidFill>
                <a:latin typeface="Malgun Gothic"/>
              </a:rPr>
              <a:t>월세 및 실질 총 주거비용 분포 (히스토그램 &amp; KDE)</a:t>
            </a:r>
          </a:p>
        </p:txBody>
      </p:sp>
      <p:sp>
        <p:nvSpPr>
          <p:cNvPr id="4" name="TextBox 3"/>
          <p:cNvSpPr txBox="1"/>
          <p:nvPr/>
        </p:nvSpPr>
        <p:spPr>
          <a:xfrm>
            <a:off x="731520" y="1143000"/>
            <a:ext cx="10515600" cy="320040"/>
          </a:xfrm>
          <a:prstGeom prst="rect">
            <a:avLst/>
          </a:prstGeom>
          <a:noFill/>
        </p:spPr>
        <p:txBody>
          <a:bodyPr wrap="square">
            <a:spAutoFit/>
          </a:bodyPr>
          <a:lstStyle/>
          <a:p>
            <a:r>
              <a:rPr sz="1100">
                <a:solidFill>
                  <a:srgbClr val="94A3B8"/>
                </a:solidFill>
                <a:latin typeface="Malgun Gothic"/>
              </a:rPr>
              <a:t>순수 월세와 실질 비용의 분포 차이 및 관리비 전가 현상</a:t>
            </a:r>
          </a:p>
        </p:txBody>
      </p:sp>
      <p:sp>
        <p:nvSpPr>
          <p:cNvPr id="5" name="Rounded Rectangle 4"/>
          <p:cNvSpPr/>
          <p:nvPr/>
        </p:nvSpPr>
        <p:spPr>
          <a:xfrm>
            <a:off x="731520" y="1645920"/>
            <a:ext cx="676656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01_monthly_rent_dist.png"/>
          <p:cNvPicPr>
            <a:picLocks noChangeAspect="1"/>
          </p:cNvPicPr>
          <p:nvPr/>
        </p:nvPicPr>
        <p:blipFill>
          <a:blip r:embed="rId2"/>
          <a:stretch>
            <a:fillRect/>
          </a:stretch>
        </p:blipFill>
        <p:spPr>
          <a:xfrm>
            <a:off x="868680" y="1783080"/>
            <a:ext cx="6492240" cy="3895344"/>
          </a:xfrm>
          <a:prstGeom prst="rect">
            <a:avLst/>
          </a:prstGeom>
        </p:spPr>
      </p:pic>
      <p:sp>
        <p:nvSpPr>
          <p:cNvPr id="7" name="Rounded Rectangle 6"/>
          <p:cNvSpPr/>
          <p:nvPr/>
        </p:nvSpPr>
        <p:spPr>
          <a:xfrm>
            <a:off x="7680960" y="1645920"/>
            <a:ext cx="3779215"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828800"/>
            <a:ext cx="3337560" cy="4297680"/>
          </a:xfrm>
          <a:prstGeom prst="rect">
            <a:avLst/>
          </a:prstGeom>
          <a:noFill/>
        </p:spPr>
        <p:txBody>
          <a:bodyPr wrap="square">
            <a:spAutoFit/>
          </a:bodyPr>
          <a:lstStyle/>
          <a:p>
            <a:r>
              <a:rPr sz="1300" b="1">
                <a:solidFill>
                  <a:srgbClr val="F59E0B"/>
                </a:solidFill>
                <a:latin typeface="Malgun Gothic"/>
              </a:rPr>
              <a:t>📊 핵심 분석 요약</a:t>
            </a:r>
          </a:p>
          <a:p>
            <a:pPr>
              <a:spcBef>
                <a:spcPts val="1000"/>
              </a:spcBef>
            </a:pPr>
            <a:r>
              <a:rPr sz="1000">
                <a:solidFill>
                  <a:srgbClr val="F8FAFC"/>
                </a:solidFill>
                <a:latin typeface="Malgun Gothic"/>
              </a:rPr>
              <a:t>• 순수 월세 중위수: 36.0만 원 (평균 40.8만 원, 최빈 구간 30~35만 원)</a:t>
            </a:r>
          </a:p>
          <a:p>
            <a:pPr>
              <a:spcBef>
                <a:spcPts val="1000"/>
              </a:spcBef>
            </a:pPr>
            <a:r>
              <a:rPr sz="1000">
                <a:solidFill>
                  <a:srgbClr val="F8FAFC"/>
                </a:solidFill>
                <a:latin typeface="Malgun Gothic"/>
              </a:rPr>
              <a:t>• 실질 총 주거비용 중위수: 46.0만 원 (평균 51.2만 원, 최빈 구간 40~45만 원)</a:t>
            </a:r>
          </a:p>
          <a:p>
            <a:pPr>
              <a:spcBef>
                <a:spcPts val="1000"/>
              </a:spcBef>
            </a:pPr>
            <a:r>
              <a:rPr sz="1000">
                <a:solidFill>
                  <a:srgbClr val="F8FAFC"/>
                </a:solidFill>
                <a:latin typeface="Malgun Gothic"/>
              </a:rPr>
              <a:t>• 관리비 약 10만 원이 가산되며 확률밀도곡선(KDE) 전체가 우측으로 평행 이동</a:t>
            </a:r>
          </a:p>
          <a:p>
            <a:pPr>
              <a:spcBef>
                <a:spcPts val="1000"/>
              </a:spcBef>
            </a:pPr>
            <a:r>
              <a:rPr sz="1000">
                <a:solidFill>
                  <a:srgbClr val="F8FAFC"/>
                </a:solidFill>
                <a:latin typeface="Malgun Gothic"/>
              </a:rPr>
              <a:t>• 80만 원 이상의 고액 월세는 오창 2산단 및 신축 쓰리룸 매물로 상위 3% 미만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a:solidFill>
                  <a:srgbClr val="F59E0B"/>
                </a:solidFill>
                <a:latin typeface="Malgun Gothic"/>
              </a:rPr>
              <a:t>• CHART 02</a:t>
            </a:r>
          </a:p>
        </p:txBody>
      </p:sp>
      <p:sp>
        <p:nvSpPr>
          <p:cNvPr id="3" name="TextBox 2"/>
          <p:cNvSpPr txBox="1"/>
          <p:nvPr/>
        </p:nvSpPr>
        <p:spPr>
          <a:xfrm>
            <a:off x="731520" y="685800"/>
            <a:ext cx="10515600" cy="502920"/>
          </a:xfrm>
          <a:prstGeom prst="rect">
            <a:avLst/>
          </a:prstGeom>
          <a:noFill/>
        </p:spPr>
        <p:txBody>
          <a:bodyPr wrap="square">
            <a:spAutoFit/>
          </a:bodyPr>
          <a:lstStyle/>
          <a:p>
            <a:r>
              <a:rPr sz="2000" b="1">
                <a:solidFill>
                  <a:srgbClr val="F8FAFC"/>
                </a:solidFill>
                <a:latin typeface="Malgun Gothic"/>
              </a:rPr>
              <a:t>방 구조 유형별 매물 점유 비율</a:t>
            </a:r>
          </a:p>
        </p:txBody>
      </p:sp>
      <p:sp>
        <p:nvSpPr>
          <p:cNvPr id="4" name="TextBox 3"/>
          <p:cNvSpPr txBox="1"/>
          <p:nvPr/>
        </p:nvSpPr>
        <p:spPr>
          <a:xfrm>
            <a:off x="731520" y="1143000"/>
            <a:ext cx="10515600" cy="320040"/>
          </a:xfrm>
          <a:prstGeom prst="rect">
            <a:avLst/>
          </a:prstGeom>
          <a:noFill/>
        </p:spPr>
        <p:txBody>
          <a:bodyPr wrap="square">
            <a:spAutoFit/>
          </a:bodyPr>
          <a:lstStyle/>
          <a:p>
            <a:r>
              <a:rPr sz="1100">
                <a:solidFill>
                  <a:srgbClr val="94A3B8"/>
                </a:solidFill>
                <a:latin typeface="Malgun Gothic"/>
              </a:rPr>
              <a:t>단독 원룸 72% 과점 구조와 1.5룸/투룸 공급 불균형</a:t>
            </a:r>
          </a:p>
        </p:txBody>
      </p:sp>
      <p:sp>
        <p:nvSpPr>
          <p:cNvPr id="5" name="Rounded Rectangle 4"/>
          <p:cNvSpPr/>
          <p:nvPr/>
        </p:nvSpPr>
        <p:spPr>
          <a:xfrm>
            <a:off x="731520" y="1645920"/>
            <a:ext cx="676656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02_structure_composition.png"/>
          <p:cNvPicPr>
            <a:picLocks noChangeAspect="1"/>
          </p:cNvPicPr>
          <p:nvPr/>
        </p:nvPicPr>
        <p:blipFill>
          <a:blip r:embed="rId2"/>
          <a:stretch>
            <a:fillRect/>
          </a:stretch>
        </p:blipFill>
        <p:spPr>
          <a:xfrm>
            <a:off x="868680" y="1783080"/>
            <a:ext cx="6492240" cy="6492240"/>
          </a:xfrm>
          <a:prstGeom prst="rect">
            <a:avLst/>
          </a:prstGeom>
        </p:spPr>
      </p:pic>
      <p:sp>
        <p:nvSpPr>
          <p:cNvPr id="7" name="Rounded Rectangle 6"/>
          <p:cNvSpPr/>
          <p:nvPr/>
        </p:nvSpPr>
        <p:spPr>
          <a:xfrm>
            <a:off x="7680960" y="1645920"/>
            <a:ext cx="3779215"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828800"/>
            <a:ext cx="3337560" cy="4297680"/>
          </a:xfrm>
          <a:prstGeom prst="rect">
            <a:avLst/>
          </a:prstGeom>
          <a:noFill/>
        </p:spPr>
        <p:txBody>
          <a:bodyPr wrap="square">
            <a:spAutoFit/>
          </a:bodyPr>
          <a:lstStyle/>
          <a:p>
            <a:r>
              <a:rPr sz="1300" b="1">
                <a:solidFill>
                  <a:srgbClr val="F59E0B"/>
                </a:solidFill>
                <a:latin typeface="Malgun Gothic"/>
              </a:rPr>
              <a:t>📊 핵심 분석 요약</a:t>
            </a:r>
          </a:p>
          <a:p>
            <a:pPr>
              <a:spcBef>
                <a:spcPts val="1000"/>
              </a:spcBef>
            </a:pPr>
            <a:r>
              <a:rPr sz="1000">
                <a:solidFill>
                  <a:srgbClr val="F8FAFC"/>
                </a:solidFill>
                <a:latin typeface="Malgun Gothic"/>
              </a:rPr>
              <a:t>• 단독 원룸: 434건 (72.0%) - 단위 면적당 수익률 극대화 산물</a:t>
            </a:r>
          </a:p>
          <a:p>
            <a:pPr>
              <a:spcBef>
                <a:spcPts val="1000"/>
              </a:spcBef>
            </a:pPr>
            <a:r>
              <a:rPr sz="1000">
                <a:solidFill>
                  <a:srgbClr val="F8FAFC"/>
                </a:solidFill>
                <a:latin typeface="Malgun Gothic"/>
              </a:rPr>
              <a:t>• 투룸 (빌라/다가구): 94건 (15.6%) - 평균 면적 16.1평의 쾌적 공간</a:t>
            </a:r>
          </a:p>
          <a:p>
            <a:pPr>
              <a:spcBef>
                <a:spcPts val="1000"/>
              </a:spcBef>
            </a:pPr>
            <a:r>
              <a:rPr sz="1000">
                <a:solidFill>
                  <a:srgbClr val="F8FAFC"/>
                </a:solidFill>
                <a:latin typeface="Malgun Gothic"/>
              </a:rPr>
              <a:t>• 1.5룸 / 분리형: 48건 (8.0%) - 실속형 1인 가구 타깃</a:t>
            </a:r>
          </a:p>
          <a:p>
            <a:pPr>
              <a:spcBef>
                <a:spcPts val="1000"/>
              </a:spcBef>
            </a:pPr>
            <a:r>
              <a:rPr sz="1000">
                <a:solidFill>
                  <a:srgbClr val="F8FAFC"/>
                </a:solidFill>
                <a:latin typeface="Malgun Gothic"/>
              </a:rPr>
              <a:t>• 쓰리룸+: 19건 (3.2%) - 2인 이상 가구 및 임원급 숙소용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a:solidFill>
                  <a:srgbClr val="F59E0B"/>
                </a:solidFill>
                <a:latin typeface="Malgun Gothic"/>
              </a:rPr>
              <a:t>• CHART 03</a:t>
            </a:r>
          </a:p>
        </p:txBody>
      </p:sp>
      <p:sp>
        <p:nvSpPr>
          <p:cNvPr id="3" name="TextBox 2"/>
          <p:cNvSpPr txBox="1"/>
          <p:nvPr/>
        </p:nvSpPr>
        <p:spPr>
          <a:xfrm>
            <a:off x="731520" y="685800"/>
            <a:ext cx="10515600" cy="502920"/>
          </a:xfrm>
          <a:prstGeom prst="rect">
            <a:avLst/>
          </a:prstGeom>
          <a:noFill/>
        </p:spPr>
        <p:txBody>
          <a:bodyPr wrap="square">
            <a:spAutoFit/>
          </a:bodyPr>
          <a:lstStyle/>
          <a:p>
            <a:r>
              <a:rPr sz="2000" b="1">
                <a:solidFill>
                  <a:srgbClr val="F8FAFC"/>
                </a:solidFill>
                <a:latin typeface="Malgun Gothic"/>
              </a:rPr>
              <a:t>세부 권역(리)별 월세 분포 및 이상치 비교</a:t>
            </a:r>
          </a:p>
        </p:txBody>
      </p:sp>
      <p:sp>
        <p:nvSpPr>
          <p:cNvPr id="4" name="TextBox 3"/>
          <p:cNvSpPr txBox="1"/>
          <p:nvPr/>
        </p:nvSpPr>
        <p:spPr>
          <a:xfrm>
            <a:off x="731520" y="1143000"/>
            <a:ext cx="10515600" cy="320040"/>
          </a:xfrm>
          <a:prstGeom prst="rect">
            <a:avLst/>
          </a:prstGeom>
          <a:noFill/>
        </p:spPr>
        <p:txBody>
          <a:bodyPr wrap="square">
            <a:spAutoFit/>
          </a:bodyPr>
          <a:lstStyle/>
          <a:p>
            <a:r>
              <a:rPr sz="1100">
                <a:solidFill>
                  <a:srgbClr val="94A3B8"/>
                </a:solidFill>
                <a:latin typeface="Malgun Gothic"/>
              </a:rPr>
              <a:t>양청리(중심상업) vs 구룡리(구시가지) vs 주성리(2산단 신흥)</a:t>
            </a:r>
          </a:p>
        </p:txBody>
      </p:sp>
      <p:sp>
        <p:nvSpPr>
          <p:cNvPr id="5" name="Rounded Rectangle 4"/>
          <p:cNvSpPr/>
          <p:nvPr/>
        </p:nvSpPr>
        <p:spPr>
          <a:xfrm>
            <a:off x="731520" y="1645920"/>
            <a:ext cx="676656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03_subdong_rent_boxplot.png"/>
          <p:cNvPicPr>
            <a:picLocks noChangeAspect="1"/>
          </p:cNvPicPr>
          <p:nvPr/>
        </p:nvPicPr>
        <p:blipFill>
          <a:blip r:embed="rId2"/>
          <a:stretch>
            <a:fillRect/>
          </a:stretch>
        </p:blipFill>
        <p:spPr>
          <a:xfrm>
            <a:off x="868680" y="1783080"/>
            <a:ext cx="6492240" cy="3895344"/>
          </a:xfrm>
          <a:prstGeom prst="rect">
            <a:avLst/>
          </a:prstGeom>
        </p:spPr>
      </p:pic>
      <p:sp>
        <p:nvSpPr>
          <p:cNvPr id="7" name="Rounded Rectangle 6"/>
          <p:cNvSpPr/>
          <p:nvPr/>
        </p:nvSpPr>
        <p:spPr>
          <a:xfrm>
            <a:off x="7680960" y="1645920"/>
            <a:ext cx="3779215"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828800"/>
            <a:ext cx="3337560" cy="4297680"/>
          </a:xfrm>
          <a:prstGeom prst="rect">
            <a:avLst/>
          </a:prstGeom>
          <a:noFill/>
        </p:spPr>
        <p:txBody>
          <a:bodyPr wrap="square">
            <a:spAutoFit/>
          </a:bodyPr>
          <a:lstStyle/>
          <a:p>
            <a:r>
              <a:rPr sz="1300" b="1">
                <a:solidFill>
                  <a:srgbClr val="F59E0B"/>
                </a:solidFill>
                <a:latin typeface="Malgun Gothic"/>
              </a:rPr>
              <a:t>📊 핵심 분석 요약</a:t>
            </a:r>
          </a:p>
          <a:p>
            <a:pPr>
              <a:spcBef>
                <a:spcPts val="1000"/>
              </a:spcBef>
            </a:pPr>
            <a:r>
              <a:rPr sz="1000">
                <a:solidFill>
                  <a:srgbClr val="F8FAFC"/>
                </a:solidFill>
                <a:latin typeface="Malgun Gothic"/>
              </a:rPr>
              <a:t>• 양청리 (221건, 36.7%): 평균 37.0만 / 중위 31.0만 (호수공원 인접 핵심 선호지)</a:t>
            </a:r>
          </a:p>
          <a:p>
            <a:pPr>
              <a:spcBef>
                <a:spcPts val="1000"/>
              </a:spcBef>
            </a:pPr>
            <a:r>
              <a:rPr sz="1000">
                <a:solidFill>
                  <a:srgbClr val="F8FAFC"/>
                </a:solidFill>
                <a:latin typeface="Malgun Gothic"/>
              </a:rPr>
              <a:t>• 구룡리 (91건, 15.1%): 평균 33.1만 / 중위 30.0만 (오창 내 최저가 가성비 원룸촌)</a:t>
            </a:r>
          </a:p>
          <a:p>
            <a:pPr>
              <a:spcBef>
                <a:spcPts val="1000"/>
              </a:spcBef>
            </a:pPr>
            <a:r>
              <a:rPr sz="1000">
                <a:solidFill>
                  <a:srgbClr val="F8FAFC"/>
                </a:solidFill>
                <a:latin typeface="Malgun Gothic"/>
              </a:rPr>
              <a:t>• 주성리 (13건): 평균 51.5만 / 중위 58.0만 (2산단 신축 다가구 밀집 최고가 형성)</a:t>
            </a:r>
          </a:p>
          <a:p>
            <a:pPr>
              <a:spcBef>
                <a:spcPts val="1000"/>
              </a:spcBef>
            </a:pPr>
            <a:r>
              <a:rPr sz="1000">
                <a:solidFill>
                  <a:srgbClr val="F8FAFC"/>
                </a:solidFill>
                <a:latin typeface="Malgun Gothic"/>
              </a:rPr>
              <a:t>• 오창읍 기타 (272건): 각리 및 외곽 산단 배후 주거벨트 (평균 45.8만)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a:solidFill>
                  <a:srgbClr val="F59E0B"/>
                </a:solidFill>
                <a:latin typeface="Malgun Gothic"/>
              </a:rPr>
              <a:t>• CHART 04</a:t>
            </a:r>
          </a:p>
        </p:txBody>
      </p:sp>
      <p:sp>
        <p:nvSpPr>
          <p:cNvPr id="3" name="TextBox 2"/>
          <p:cNvSpPr txBox="1"/>
          <p:nvPr/>
        </p:nvSpPr>
        <p:spPr>
          <a:xfrm>
            <a:off x="731520" y="685800"/>
            <a:ext cx="10515600" cy="502920"/>
          </a:xfrm>
          <a:prstGeom prst="rect">
            <a:avLst/>
          </a:prstGeom>
          <a:noFill/>
        </p:spPr>
        <p:txBody>
          <a:bodyPr wrap="square">
            <a:spAutoFit/>
          </a:bodyPr>
          <a:lstStyle/>
          <a:p>
            <a:r>
              <a:rPr sz="2000" b="1">
                <a:solidFill>
                  <a:srgbClr val="F8FAFC"/>
                </a:solidFill>
                <a:latin typeface="Malgun Gothic"/>
              </a:rPr>
              <a:t>전용면적(평) 대비 실질 총주거비 산점도 및 추세선</a:t>
            </a:r>
          </a:p>
        </p:txBody>
      </p:sp>
      <p:sp>
        <p:nvSpPr>
          <p:cNvPr id="4" name="TextBox 3"/>
          <p:cNvSpPr txBox="1"/>
          <p:nvPr/>
        </p:nvSpPr>
        <p:spPr>
          <a:xfrm>
            <a:off x="731520" y="1143000"/>
            <a:ext cx="10515600" cy="320040"/>
          </a:xfrm>
          <a:prstGeom prst="rect">
            <a:avLst/>
          </a:prstGeom>
          <a:noFill/>
        </p:spPr>
        <p:txBody>
          <a:bodyPr wrap="square">
            <a:spAutoFit/>
          </a:bodyPr>
          <a:lstStyle/>
          <a:p>
            <a:r>
              <a:rPr sz="1100">
                <a:solidFill>
                  <a:srgbClr val="94A3B8"/>
                </a:solidFill>
                <a:latin typeface="Malgun Gothic"/>
              </a:rPr>
              <a:t>공간 면적 증가에 따른 실질 주거비의 체감 증가율</a:t>
            </a:r>
          </a:p>
        </p:txBody>
      </p:sp>
      <p:sp>
        <p:nvSpPr>
          <p:cNvPr id="5" name="Rounded Rectangle 4"/>
          <p:cNvSpPr/>
          <p:nvPr/>
        </p:nvSpPr>
        <p:spPr>
          <a:xfrm>
            <a:off x="731520" y="1645920"/>
            <a:ext cx="676656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04_rent_vs_size_scatter.png"/>
          <p:cNvPicPr>
            <a:picLocks noChangeAspect="1"/>
          </p:cNvPicPr>
          <p:nvPr/>
        </p:nvPicPr>
        <p:blipFill>
          <a:blip r:embed="rId2"/>
          <a:stretch>
            <a:fillRect/>
          </a:stretch>
        </p:blipFill>
        <p:spPr>
          <a:xfrm>
            <a:off x="868680" y="1783080"/>
            <a:ext cx="6492240" cy="3895344"/>
          </a:xfrm>
          <a:prstGeom prst="rect">
            <a:avLst/>
          </a:prstGeom>
        </p:spPr>
      </p:pic>
      <p:sp>
        <p:nvSpPr>
          <p:cNvPr id="7" name="Rounded Rectangle 6"/>
          <p:cNvSpPr/>
          <p:nvPr/>
        </p:nvSpPr>
        <p:spPr>
          <a:xfrm>
            <a:off x="7680960" y="1645920"/>
            <a:ext cx="3779215"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828800"/>
            <a:ext cx="3337560" cy="4297680"/>
          </a:xfrm>
          <a:prstGeom prst="rect">
            <a:avLst/>
          </a:prstGeom>
          <a:noFill/>
        </p:spPr>
        <p:txBody>
          <a:bodyPr wrap="square">
            <a:spAutoFit/>
          </a:bodyPr>
          <a:lstStyle/>
          <a:p>
            <a:r>
              <a:rPr sz="1300" b="1">
                <a:solidFill>
                  <a:srgbClr val="F59E0B"/>
                </a:solidFill>
                <a:latin typeface="Malgun Gothic"/>
              </a:rPr>
              <a:t>📊 핵심 분석 요약</a:t>
            </a:r>
          </a:p>
          <a:p>
            <a:pPr>
              <a:spcBef>
                <a:spcPts val="1000"/>
              </a:spcBef>
            </a:pPr>
            <a:r>
              <a:rPr sz="1000">
                <a:solidFill>
                  <a:srgbClr val="F8FAFC"/>
                </a:solidFill>
                <a:latin typeface="Malgun Gothic"/>
              </a:rPr>
              <a:t>• 면적과 총주거비는 뚜렷한 양의 선형 관계 (피어슨 r = +0.63)</a:t>
            </a:r>
          </a:p>
          <a:p>
            <a:pPr>
              <a:spcBef>
                <a:spcPts val="1000"/>
              </a:spcBef>
            </a:pPr>
            <a:r>
              <a:rPr sz="1000">
                <a:solidFill>
                  <a:srgbClr val="F8FAFC"/>
                </a:solidFill>
                <a:latin typeface="Malgun Gothic"/>
              </a:rPr>
              <a:t>• 7~10평 표준 원룸: 평균 실질비용 월 46.8만 원 (평당 5.4만 원)</a:t>
            </a:r>
          </a:p>
          <a:p>
            <a:pPr>
              <a:spcBef>
                <a:spcPts val="1000"/>
              </a:spcBef>
            </a:pPr>
            <a:r>
              <a:rPr sz="1000">
                <a:solidFill>
                  <a:srgbClr val="F8FAFC"/>
                </a:solidFill>
                <a:latin typeface="Malgun Gothic"/>
              </a:rPr>
              <a:t>• 15평 이상 중대형: 평균 실질비용 월 74.6만 원 (평당 3.9만 원)</a:t>
            </a:r>
          </a:p>
          <a:p>
            <a:pPr>
              <a:spcBef>
                <a:spcPts val="1000"/>
              </a:spcBef>
            </a:pPr>
            <a:r>
              <a:rPr sz="1000">
                <a:solidFill>
                  <a:srgbClr val="F8FAFC"/>
                </a:solidFill>
                <a:latin typeface="Malgun Gothic"/>
              </a:rPr>
              <a:t>• 빨간 점선은 선형 추세선, 분홍색 면적은 95% 신뢰구간을 의미</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a:solidFill>
                  <a:srgbClr val="F59E0B"/>
                </a:solidFill>
                <a:latin typeface="Malgun Gothic"/>
              </a:rPr>
              <a:t>• CHART 05</a:t>
            </a:r>
          </a:p>
        </p:txBody>
      </p:sp>
      <p:sp>
        <p:nvSpPr>
          <p:cNvPr id="3" name="TextBox 2"/>
          <p:cNvSpPr txBox="1"/>
          <p:nvPr/>
        </p:nvSpPr>
        <p:spPr>
          <a:xfrm>
            <a:off x="731520" y="685800"/>
            <a:ext cx="10515600" cy="502920"/>
          </a:xfrm>
          <a:prstGeom prst="rect">
            <a:avLst/>
          </a:prstGeom>
          <a:noFill/>
        </p:spPr>
        <p:txBody>
          <a:bodyPr wrap="square">
            <a:spAutoFit/>
          </a:bodyPr>
          <a:lstStyle/>
          <a:p>
            <a:r>
              <a:rPr sz="2000" b="1">
                <a:solidFill>
                  <a:srgbClr val="F8FAFC"/>
                </a:solidFill>
                <a:latin typeface="Malgun Gothic"/>
              </a:rPr>
              <a:t>보증금 구간별 평균 월세 수준 및 매물 분포</a:t>
            </a:r>
          </a:p>
        </p:txBody>
      </p:sp>
      <p:sp>
        <p:nvSpPr>
          <p:cNvPr id="4" name="TextBox 3"/>
          <p:cNvSpPr txBox="1"/>
          <p:nvPr/>
        </p:nvSpPr>
        <p:spPr>
          <a:xfrm>
            <a:off x="731520" y="1143000"/>
            <a:ext cx="10515600" cy="320040"/>
          </a:xfrm>
          <a:prstGeom prst="rect">
            <a:avLst/>
          </a:prstGeom>
          <a:noFill/>
        </p:spPr>
        <p:txBody>
          <a:bodyPr wrap="square">
            <a:spAutoFit/>
          </a:bodyPr>
          <a:lstStyle/>
          <a:p>
            <a:r>
              <a:rPr sz="1100">
                <a:solidFill>
                  <a:srgbClr val="94A3B8"/>
                </a:solidFill>
                <a:latin typeface="Malgun Gothic"/>
              </a:rPr>
              <a:t>300만 원 이하 저보증금 구조와 고액 보증금의 신축 편중</a:t>
            </a:r>
          </a:p>
        </p:txBody>
      </p:sp>
      <p:sp>
        <p:nvSpPr>
          <p:cNvPr id="5" name="Rounded Rectangle 4"/>
          <p:cNvSpPr/>
          <p:nvPr/>
        </p:nvSpPr>
        <p:spPr>
          <a:xfrm>
            <a:off x="731520" y="1645920"/>
            <a:ext cx="676656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05_deposit_rent_tradeoff.png"/>
          <p:cNvPicPr>
            <a:picLocks noChangeAspect="1"/>
          </p:cNvPicPr>
          <p:nvPr/>
        </p:nvPicPr>
        <p:blipFill>
          <a:blip r:embed="rId2"/>
          <a:stretch>
            <a:fillRect/>
          </a:stretch>
        </p:blipFill>
        <p:spPr>
          <a:xfrm>
            <a:off x="868680" y="1783080"/>
            <a:ext cx="6492240" cy="3895344"/>
          </a:xfrm>
          <a:prstGeom prst="rect">
            <a:avLst/>
          </a:prstGeom>
        </p:spPr>
      </p:pic>
      <p:sp>
        <p:nvSpPr>
          <p:cNvPr id="7" name="Rounded Rectangle 6"/>
          <p:cNvSpPr/>
          <p:nvPr/>
        </p:nvSpPr>
        <p:spPr>
          <a:xfrm>
            <a:off x="7680960" y="1645920"/>
            <a:ext cx="3779215"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828800"/>
            <a:ext cx="3337560" cy="4297680"/>
          </a:xfrm>
          <a:prstGeom prst="rect">
            <a:avLst/>
          </a:prstGeom>
          <a:noFill/>
        </p:spPr>
        <p:txBody>
          <a:bodyPr wrap="square">
            <a:spAutoFit/>
          </a:bodyPr>
          <a:lstStyle/>
          <a:p>
            <a:r>
              <a:rPr sz="1300" b="1">
                <a:solidFill>
                  <a:srgbClr val="F59E0B"/>
                </a:solidFill>
                <a:latin typeface="Malgun Gothic"/>
              </a:rPr>
              <a:t>📊 핵심 분석 요약</a:t>
            </a:r>
          </a:p>
          <a:p>
            <a:pPr>
              <a:spcBef>
                <a:spcPts val="1000"/>
              </a:spcBef>
            </a:pPr>
            <a:r>
              <a:rPr sz="1000">
                <a:solidFill>
                  <a:srgbClr val="F8FAFC"/>
                </a:solidFill>
                <a:latin typeface="Malgun Gothic"/>
              </a:rPr>
              <a:t>• 보증금 200만 이하(204건) 및 201~300만(165건)이 전체의 61.2% 차지</a:t>
            </a:r>
          </a:p>
          <a:p>
            <a:pPr>
              <a:spcBef>
                <a:spcPts val="1000"/>
              </a:spcBef>
            </a:pPr>
            <a:r>
              <a:rPr sz="1000">
                <a:solidFill>
                  <a:srgbClr val="F8FAFC"/>
                </a:solidFill>
                <a:latin typeface="Malgun Gothic"/>
              </a:rPr>
              <a:t>• 보증금 300만 이하 구간의 평균 월세는 34~36만 원 선으로 매우 안정적</a:t>
            </a:r>
          </a:p>
          <a:p>
            <a:pPr>
              <a:spcBef>
                <a:spcPts val="1000"/>
              </a:spcBef>
            </a:pPr>
            <a:r>
              <a:rPr sz="1000">
                <a:solidFill>
                  <a:srgbClr val="F8FAFC"/>
                </a:solidFill>
                <a:latin typeface="Malgun Gothic"/>
              </a:rPr>
              <a:t>• 1,000만 원 초과 고보증금 구간은 평균 월세 68.4만 원으로 동반 상승</a:t>
            </a:r>
          </a:p>
          <a:p>
            <a:pPr>
              <a:spcBef>
                <a:spcPts val="1000"/>
              </a:spcBef>
            </a:pPr>
            <a:r>
              <a:rPr sz="1000">
                <a:solidFill>
                  <a:srgbClr val="F8FAFC"/>
                </a:solidFill>
                <a:latin typeface="Malgun Gothic"/>
              </a:rPr>
              <a:t>• 금융 전환이 아닌 주택 평형과 연식 차이가 보증금과 월세를 동시 견인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a:solidFill>
                  <a:srgbClr val="F59E0B"/>
                </a:solidFill>
                <a:latin typeface="Malgun Gothic"/>
              </a:rPr>
              <a:t>• CHART 06</a:t>
            </a:r>
          </a:p>
        </p:txBody>
      </p:sp>
      <p:sp>
        <p:nvSpPr>
          <p:cNvPr id="3" name="TextBox 2"/>
          <p:cNvSpPr txBox="1"/>
          <p:nvPr/>
        </p:nvSpPr>
        <p:spPr>
          <a:xfrm>
            <a:off x="731520" y="685800"/>
            <a:ext cx="10515600" cy="502920"/>
          </a:xfrm>
          <a:prstGeom prst="rect">
            <a:avLst/>
          </a:prstGeom>
          <a:noFill/>
        </p:spPr>
        <p:txBody>
          <a:bodyPr wrap="square">
            <a:spAutoFit/>
          </a:bodyPr>
          <a:lstStyle/>
          <a:p>
            <a:r>
              <a:rPr sz="2000" b="1">
                <a:solidFill>
                  <a:srgbClr val="F8FAFC"/>
                </a:solidFill>
                <a:latin typeface="Malgun Gothic"/>
              </a:rPr>
              <a:t>방 구조 유형별 평당 실질 주거비용 (가성비 지수)</a:t>
            </a:r>
          </a:p>
        </p:txBody>
      </p:sp>
      <p:sp>
        <p:nvSpPr>
          <p:cNvPr id="4" name="TextBox 3"/>
          <p:cNvSpPr txBox="1"/>
          <p:nvPr/>
        </p:nvSpPr>
        <p:spPr>
          <a:xfrm>
            <a:off x="731520" y="1143000"/>
            <a:ext cx="10515600" cy="320040"/>
          </a:xfrm>
          <a:prstGeom prst="rect">
            <a:avLst/>
          </a:prstGeom>
          <a:noFill/>
        </p:spPr>
        <p:txBody>
          <a:bodyPr wrap="square">
            <a:spAutoFit/>
          </a:bodyPr>
          <a:lstStyle/>
          <a:p>
            <a:r>
              <a:rPr sz="1100">
                <a:solidFill>
                  <a:srgbClr val="94A3B8"/>
                </a:solidFill>
                <a:latin typeface="Malgun Gothic"/>
              </a:rPr>
              <a:t>복층형(3.9만) 및 투룸(4.0만)의 압도적 공간 가성비 우위</a:t>
            </a:r>
          </a:p>
        </p:txBody>
      </p:sp>
      <p:sp>
        <p:nvSpPr>
          <p:cNvPr id="5" name="Rounded Rectangle 4"/>
          <p:cNvSpPr/>
          <p:nvPr/>
        </p:nvSpPr>
        <p:spPr>
          <a:xfrm>
            <a:off x="731520" y="1645920"/>
            <a:ext cx="676656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06_cost_per_pyeong_rank.png"/>
          <p:cNvPicPr>
            <a:picLocks noChangeAspect="1"/>
          </p:cNvPicPr>
          <p:nvPr/>
        </p:nvPicPr>
        <p:blipFill>
          <a:blip r:embed="rId2"/>
          <a:stretch>
            <a:fillRect/>
          </a:stretch>
        </p:blipFill>
        <p:spPr>
          <a:xfrm>
            <a:off x="868680" y="1783080"/>
            <a:ext cx="6492240" cy="3895344"/>
          </a:xfrm>
          <a:prstGeom prst="rect">
            <a:avLst/>
          </a:prstGeom>
        </p:spPr>
      </p:pic>
      <p:sp>
        <p:nvSpPr>
          <p:cNvPr id="7" name="Rounded Rectangle 6"/>
          <p:cNvSpPr/>
          <p:nvPr/>
        </p:nvSpPr>
        <p:spPr>
          <a:xfrm>
            <a:off x="7680960" y="1645920"/>
            <a:ext cx="3779215"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828800"/>
            <a:ext cx="3337560" cy="4297680"/>
          </a:xfrm>
          <a:prstGeom prst="rect">
            <a:avLst/>
          </a:prstGeom>
          <a:noFill/>
        </p:spPr>
        <p:txBody>
          <a:bodyPr wrap="square">
            <a:spAutoFit/>
          </a:bodyPr>
          <a:lstStyle/>
          <a:p>
            <a:r>
              <a:rPr sz="1300" b="1">
                <a:solidFill>
                  <a:srgbClr val="F59E0B"/>
                </a:solidFill>
                <a:latin typeface="Malgun Gothic"/>
              </a:rPr>
              <a:t>📊 핵심 분석 요약</a:t>
            </a:r>
          </a:p>
          <a:p>
            <a:pPr>
              <a:spcBef>
                <a:spcPts val="1000"/>
              </a:spcBef>
            </a:pPr>
            <a:r>
              <a:rPr sz="1000">
                <a:solidFill>
                  <a:srgbClr val="F8FAFC"/>
                </a:solidFill>
                <a:latin typeface="Malgun Gothic"/>
              </a:rPr>
              <a:t>• 1위 (최고 효율): 복층형 원룸 - 평당 3.9만 원 (공간 활용 극대화)</a:t>
            </a:r>
          </a:p>
          <a:p>
            <a:pPr>
              <a:spcBef>
                <a:spcPts val="1000"/>
              </a:spcBef>
            </a:pPr>
            <a:r>
              <a:rPr sz="1000">
                <a:solidFill>
                  <a:srgbClr val="F8FAFC"/>
                </a:solidFill>
                <a:latin typeface="Malgun Gothic"/>
              </a:rPr>
              <a:t>• 2위: 투룸 - 평당 4.0만 원 (16.1평의 넓은 공간을 월 64만 원에 향유)</a:t>
            </a:r>
          </a:p>
          <a:p>
            <a:pPr>
              <a:spcBef>
                <a:spcPts val="1000"/>
              </a:spcBef>
            </a:pPr>
            <a:r>
              <a:rPr sz="1000">
                <a:solidFill>
                  <a:srgbClr val="F8FAFC"/>
                </a:solidFill>
                <a:latin typeface="Malgun Gothic"/>
              </a:rPr>
              <a:t>• 4위: 단독 원룸 - 평당 5.4만 원 (소형화 시공비용으로 단가 상승)</a:t>
            </a:r>
          </a:p>
          <a:p>
            <a:pPr>
              <a:spcBef>
                <a:spcPts val="1000"/>
              </a:spcBef>
            </a:pPr>
            <a:r>
              <a:rPr sz="1000">
                <a:solidFill>
                  <a:srgbClr val="F8FAFC"/>
                </a:solidFill>
                <a:latin typeface="Malgun Gothic"/>
              </a:rPr>
              <a:t>• 5위: 1.5룸/분리형 - 평당 5.5만 원 (분리벽 시공에 따른 평당 프리미엄)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a:solidFill>
                  <a:srgbClr val="F59E0B"/>
                </a:solidFill>
                <a:latin typeface="Malgun Gothic"/>
              </a:rPr>
              <a:t>• CHART 07</a:t>
            </a:r>
          </a:p>
        </p:txBody>
      </p:sp>
      <p:sp>
        <p:nvSpPr>
          <p:cNvPr id="3" name="TextBox 2"/>
          <p:cNvSpPr txBox="1"/>
          <p:nvPr/>
        </p:nvSpPr>
        <p:spPr>
          <a:xfrm>
            <a:off x="731520" y="685800"/>
            <a:ext cx="10515600" cy="502920"/>
          </a:xfrm>
          <a:prstGeom prst="rect">
            <a:avLst/>
          </a:prstGeom>
          <a:noFill/>
        </p:spPr>
        <p:txBody>
          <a:bodyPr wrap="square">
            <a:spAutoFit/>
          </a:bodyPr>
          <a:lstStyle/>
          <a:p>
            <a:r>
              <a:rPr sz="2000" b="1">
                <a:solidFill>
                  <a:srgbClr val="F8FAFC"/>
                </a:solidFill>
                <a:latin typeface="Malgun Gothic"/>
              </a:rPr>
              <a:t>층수 카테고리별 평균 월세 및 전용면적 비교</a:t>
            </a:r>
          </a:p>
        </p:txBody>
      </p:sp>
      <p:sp>
        <p:nvSpPr>
          <p:cNvPr id="4" name="TextBox 3"/>
          <p:cNvSpPr txBox="1"/>
          <p:nvPr/>
        </p:nvSpPr>
        <p:spPr>
          <a:xfrm>
            <a:off x="731520" y="1143000"/>
            <a:ext cx="10515600" cy="320040"/>
          </a:xfrm>
          <a:prstGeom prst="rect">
            <a:avLst/>
          </a:prstGeom>
          <a:noFill/>
        </p:spPr>
        <p:txBody>
          <a:bodyPr wrap="square">
            <a:spAutoFit/>
          </a:bodyPr>
          <a:lstStyle/>
          <a:p>
            <a:r>
              <a:rPr sz="1100">
                <a:solidFill>
                  <a:srgbClr val="94A3B8"/>
                </a:solidFill>
                <a:latin typeface="Malgun Gothic"/>
              </a:rPr>
              <a:t>저층(1층)의 할인 효과(월 6.3만 원)와 중·고층 선호도</a:t>
            </a:r>
          </a:p>
        </p:txBody>
      </p:sp>
      <p:sp>
        <p:nvSpPr>
          <p:cNvPr id="5" name="Rounded Rectangle 4"/>
          <p:cNvSpPr/>
          <p:nvPr/>
        </p:nvSpPr>
        <p:spPr>
          <a:xfrm>
            <a:off x="731520" y="1645920"/>
            <a:ext cx="676656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07_floor_level_analysis.png"/>
          <p:cNvPicPr>
            <a:picLocks noChangeAspect="1"/>
          </p:cNvPicPr>
          <p:nvPr/>
        </p:nvPicPr>
        <p:blipFill>
          <a:blip r:embed="rId2"/>
          <a:stretch>
            <a:fillRect/>
          </a:stretch>
        </p:blipFill>
        <p:spPr>
          <a:xfrm>
            <a:off x="868680" y="1783080"/>
            <a:ext cx="6492240" cy="4328160"/>
          </a:xfrm>
          <a:prstGeom prst="rect">
            <a:avLst/>
          </a:prstGeom>
        </p:spPr>
      </p:pic>
      <p:sp>
        <p:nvSpPr>
          <p:cNvPr id="7" name="Rounded Rectangle 6"/>
          <p:cNvSpPr/>
          <p:nvPr/>
        </p:nvSpPr>
        <p:spPr>
          <a:xfrm>
            <a:off x="7680960" y="1645920"/>
            <a:ext cx="3779215"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828800"/>
            <a:ext cx="3337560" cy="4297680"/>
          </a:xfrm>
          <a:prstGeom prst="rect">
            <a:avLst/>
          </a:prstGeom>
          <a:noFill/>
        </p:spPr>
        <p:txBody>
          <a:bodyPr wrap="square">
            <a:spAutoFit/>
          </a:bodyPr>
          <a:lstStyle/>
          <a:p>
            <a:r>
              <a:rPr sz="1300" b="1">
                <a:solidFill>
                  <a:srgbClr val="F59E0B"/>
                </a:solidFill>
                <a:latin typeface="Malgun Gothic"/>
              </a:rPr>
              <a:t>📊 핵심 분석 요약</a:t>
            </a:r>
          </a:p>
          <a:p>
            <a:pPr>
              <a:spcBef>
                <a:spcPts val="1000"/>
              </a:spcBef>
            </a:pPr>
            <a:r>
              <a:rPr sz="1000">
                <a:solidFill>
                  <a:srgbClr val="F8FAFC"/>
                </a:solidFill>
                <a:latin typeface="Malgun Gothic"/>
              </a:rPr>
              <a:t>• 중층 (2~4층, 370건): 평균 월세 42.0만 원 (시장 주력 선호층)</a:t>
            </a:r>
          </a:p>
          <a:p>
            <a:pPr>
              <a:spcBef>
                <a:spcPts val="1000"/>
              </a:spcBef>
            </a:pPr>
            <a:r>
              <a:rPr sz="1000">
                <a:solidFill>
                  <a:srgbClr val="F8FAFC"/>
                </a:solidFill>
                <a:latin typeface="Malgun Gothic"/>
              </a:rPr>
              <a:t>• 저층 (1층, 80건): 평균 월세 35.7만 원 (중층 대비 월 6.3만 원 저렴)</a:t>
            </a:r>
          </a:p>
          <a:p>
            <a:pPr>
              <a:spcBef>
                <a:spcPts val="1000"/>
              </a:spcBef>
            </a:pPr>
            <a:r>
              <a:rPr sz="1000">
                <a:solidFill>
                  <a:srgbClr val="F8FAFC"/>
                </a:solidFill>
                <a:latin typeface="Malgun Gothic"/>
              </a:rPr>
              <a:t>• 1층 매물은 연간 약 75만 원의 실질 주거비 절감 혜택 제공</a:t>
            </a:r>
          </a:p>
          <a:p>
            <a:pPr>
              <a:spcBef>
                <a:spcPts val="1000"/>
              </a:spcBef>
            </a:pPr>
            <a:r>
              <a:rPr sz="1000">
                <a:solidFill>
                  <a:srgbClr val="F8FAFC"/>
                </a:solidFill>
                <a:latin typeface="Malgun Gothic"/>
              </a:rPr>
              <a:t>• 고층 (5층 이상, 153건): 평균 월세 40.4만 원 (승강기 완비 신축 중심)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a:solidFill>
                  <a:srgbClr val="F59E0B"/>
                </a:solidFill>
                <a:latin typeface="Malgun Gothic"/>
              </a:rPr>
              <a:t>• CHART 08</a:t>
            </a:r>
          </a:p>
        </p:txBody>
      </p:sp>
      <p:sp>
        <p:nvSpPr>
          <p:cNvPr id="3" name="TextBox 2"/>
          <p:cNvSpPr txBox="1"/>
          <p:nvPr/>
        </p:nvSpPr>
        <p:spPr>
          <a:xfrm>
            <a:off x="731520" y="685800"/>
            <a:ext cx="10515600" cy="502920"/>
          </a:xfrm>
          <a:prstGeom prst="rect">
            <a:avLst/>
          </a:prstGeom>
          <a:noFill/>
        </p:spPr>
        <p:txBody>
          <a:bodyPr wrap="square">
            <a:spAutoFit/>
          </a:bodyPr>
          <a:lstStyle/>
          <a:p>
            <a:r>
              <a:rPr sz="2000" b="1">
                <a:solidFill>
                  <a:srgbClr val="F8FAFC"/>
                </a:solidFill>
                <a:latin typeface="Malgun Gothic"/>
              </a:rPr>
              <a:t>승강기 유무 및 풀옵션 여부별 월세 프리미엄</a:t>
            </a:r>
          </a:p>
        </p:txBody>
      </p:sp>
      <p:sp>
        <p:nvSpPr>
          <p:cNvPr id="4" name="TextBox 3"/>
          <p:cNvSpPr txBox="1"/>
          <p:nvPr/>
        </p:nvSpPr>
        <p:spPr>
          <a:xfrm>
            <a:off x="731520" y="1143000"/>
            <a:ext cx="10515600" cy="320040"/>
          </a:xfrm>
          <a:prstGeom prst="rect">
            <a:avLst/>
          </a:prstGeom>
          <a:noFill/>
        </p:spPr>
        <p:txBody>
          <a:bodyPr wrap="square">
            <a:spAutoFit/>
          </a:bodyPr>
          <a:lstStyle/>
          <a:p>
            <a:r>
              <a:rPr sz="1100">
                <a:solidFill>
                  <a:srgbClr val="94A3B8"/>
                </a:solidFill>
                <a:latin typeface="Malgun Gothic"/>
              </a:rPr>
              <a:t>승강기 완비 건물의 월 +9.7만 원 압도적 프리미엄 규명</a:t>
            </a:r>
          </a:p>
        </p:txBody>
      </p:sp>
      <p:sp>
        <p:nvSpPr>
          <p:cNvPr id="5" name="Rounded Rectangle 4"/>
          <p:cNvSpPr/>
          <p:nvPr/>
        </p:nvSpPr>
        <p:spPr>
          <a:xfrm>
            <a:off x="731520" y="1645920"/>
            <a:ext cx="676656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08_option_score_effect.png"/>
          <p:cNvPicPr>
            <a:picLocks noChangeAspect="1"/>
          </p:cNvPicPr>
          <p:nvPr/>
        </p:nvPicPr>
        <p:blipFill>
          <a:blip r:embed="rId2"/>
          <a:stretch>
            <a:fillRect/>
          </a:stretch>
        </p:blipFill>
        <p:spPr>
          <a:xfrm>
            <a:off x="868680" y="1783080"/>
            <a:ext cx="6492240" cy="4328160"/>
          </a:xfrm>
          <a:prstGeom prst="rect">
            <a:avLst/>
          </a:prstGeom>
        </p:spPr>
      </p:pic>
      <p:sp>
        <p:nvSpPr>
          <p:cNvPr id="7" name="Rounded Rectangle 6"/>
          <p:cNvSpPr/>
          <p:nvPr/>
        </p:nvSpPr>
        <p:spPr>
          <a:xfrm>
            <a:off x="7680960" y="1645920"/>
            <a:ext cx="3779215"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828800"/>
            <a:ext cx="3337560" cy="4297680"/>
          </a:xfrm>
          <a:prstGeom prst="rect">
            <a:avLst/>
          </a:prstGeom>
          <a:noFill/>
        </p:spPr>
        <p:txBody>
          <a:bodyPr wrap="square">
            <a:spAutoFit/>
          </a:bodyPr>
          <a:lstStyle/>
          <a:p>
            <a:r>
              <a:rPr sz="1300" b="1">
                <a:solidFill>
                  <a:srgbClr val="F59E0B"/>
                </a:solidFill>
                <a:latin typeface="Malgun Gothic"/>
              </a:rPr>
              <a:t>📊 핵심 분석 요약</a:t>
            </a:r>
          </a:p>
          <a:p>
            <a:pPr>
              <a:spcBef>
                <a:spcPts val="1000"/>
              </a:spcBef>
            </a:pPr>
            <a:r>
              <a:rPr sz="1000">
                <a:solidFill>
                  <a:srgbClr val="F8FAFC"/>
                </a:solidFill>
                <a:latin typeface="Malgun Gothic"/>
              </a:rPr>
              <a:t>• 승강기(엘리베이터) 보유 비율: 오창 전체의 1.7% (10건)에 불과</a:t>
            </a:r>
          </a:p>
          <a:p>
            <a:pPr>
              <a:spcBef>
                <a:spcPts val="1000"/>
              </a:spcBef>
            </a:pPr>
            <a:r>
              <a:rPr sz="1000">
                <a:solidFill>
                  <a:srgbClr val="F8FAFC"/>
                </a:solidFill>
                <a:latin typeface="Malgun Gothic"/>
              </a:rPr>
              <a:t>• 엘리베이터 보유 시 평균 월세 50.3만 원 vs 미보유 시 40.6만 원 (+9.7만 원 차이)</a:t>
            </a:r>
          </a:p>
          <a:p>
            <a:pPr>
              <a:spcBef>
                <a:spcPts val="1000"/>
              </a:spcBef>
            </a:pPr>
            <a:r>
              <a:rPr sz="1000">
                <a:solidFill>
                  <a:srgbClr val="F8FAFC"/>
                </a:solidFill>
                <a:latin typeface="Malgun Gothic"/>
              </a:rPr>
              <a:t>• 풀옵션 완료 시 평균 월세 42.3만 원 vs 일반 40.4만 원 (+1.9만 원 차이)</a:t>
            </a:r>
          </a:p>
          <a:p>
            <a:pPr>
              <a:spcBef>
                <a:spcPts val="1000"/>
              </a:spcBef>
            </a:pPr>
            <a:r>
              <a:rPr sz="1000">
                <a:solidFill>
                  <a:srgbClr val="F8FAFC"/>
                </a:solidFill>
                <a:latin typeface="Malgun Gothic"/>
              </a:rPr>
              <a:t>• 가전 옵션은 기본재화된 반면 이동 편의시설(승강기)이 결정적 차별화 요인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a:solidFill>
                  <a:srgbClr val="F59E0B"/>
                </a:solidFill>
                <a:latin typeface="Malgun Gothic"/>
              </a:rPr>
              <a:t>• CHART 09</a:t>
            </a:r>
          </a:p>
        </p:txBody>
      </p:sp>
      <p:sp>
        <p:nvSpPr>
          <p:cNvPr id="3" name="TextBox 2"/>
          <p:cNvSpPr txBox="1"/>
          <p:nvPr/>
        </p:nvSpPr>
        <p:spPr>
          <a:xfrm>
            <a:off x="731520" y="685800"/>
            <a:ext cx="10515600" cy="502920"/>
          </a:xfrm>
          <a:prstGeom prst="rect">
            <a:avLst/>
          </a:prstGeom>
          <a:noFill/>
        </p:spPr>
        <p:txBody>
          <a:bodyPr wrap="square">
            <a:spAutoFit/>
          </a:bodyPr>
          <a:lstStyle/>
          <a:p>
            <a:r>
              <a:rPr sz="2000" b="1">
                <a:solidFill>
                  <a:srgbClr val="F8FAFC"/>
                </a:solidFill>
                <a:latin typeface="Malgun Gothic"/>
              </a:rPr>
              <a:t>오창읍 매물 지리적 공간 분포 및 클러스터</a:t>
            </a:r>
          </a:p>
        </p:txBody>
      </p:sp>
      <p:sp>
        <p:nvSpPr>
          <p:cNvPr id="4" name="TextBox 3"/>
          <p:cNvSpPr txBox="1"/>
          <p:nvPr/>
        </p:nvSpPr>
        <p:spPr>
          <a:xfrm>
            <a:off x="731520" y="1143000"/>
            <a:ext cx="10515600" cy="320040"/>
          </a:xfrm>
          <a:prstGeom prst="rect">
            <a:avLst/>
          </a:prstGeom>
          <a:noFill/>
        </p:spPr>
        <p:txBody>
          <a:bodyPr wrap="square">
            <a:spAutoFit/>
          </a:bodyPr>
          <a:lstStyle/>
          <a:p>
            <a:r>
              <a:rPr sz="1100">
                <a:solidFill>
                  <a:srgbClr val="94A3B8"/>
                </a:solidFill>
                <a:latin typeface="Malgun Gothic"/>
              </a:rPr>
              <a:t>양청리 호수공원 상권과 구룡리 원룸촌의 2대 지리적 중심축</a:t>
            </a:r>
          </a:p>
        </p:txBody>
      </p:sp>
      <p:sp>
        <p:nvSpPr>
          <p:cNvPr id="5" name="Rounded Rectangle 4"/>
          <p:cNvSpPr/>
          <p:nvPr/>
        </p:nvSpPr>
        <p:spPr>
          <a:xfrm>
            <a:off x="731520" y="1645920"/>
            <a:ext cx="676656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09_spatial_cluster_kde.png"/>
          <p:cNvPicPr>
            <a:picLocks noChangeAspect="1"/>
          </p:cNvPicPr>
          <p:nvPr/>
        </p:nvPicPr>
        <p:blipFill>
          <a:blip r:embed="rId2"/>
          <a:stretch>
            <a:fillRect/>
          </a:stretch>
        </p:blipFill>
        <p:spPr>
          <a:xfrm>
            <a:off x="868680" y="1783080"/>
            <a:ext cx="6492240" cy="4544568"/>
          </a:xfrm>
          <a:prstGeom prst="rect">
            <a:avLst/>
          </a:prstGeom>
        </p:spPr>
      </p:pic>
      <p:sp>
        <p:nvSpPr>
          <p:cNvPr id="7" name="Rounded Rectangle 6"/>
          <p:cNvSpPr/>
          <p:nvPr/>
        </p:nvSpPr>
        <p:spPr>
          <a:xfrm>
            <a:off x="7680960" y="1645920"/>
            <a:ext cx="3779215"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828800"/>
            <a:ext cx="3337560" cy="4297680"/>
          </a:xfrm>
          <a:prstGeom prst="rect">
            <a:avLst/>
          </a:prstGeom>
          <a:noFill/>
        </p:spPr>
        <p:txBody>
          <a:bodyPr wrap="square">
            <a:spAutoFit/>
          </a:bodyPr>
          <a:lstStyle/>
          <a:p>
            <a:r>
              <a:rPr sz="1300" b="1">
                <a:solidFill>
                  <a:srgbClr val="F59E0B"/>
                </a:solidFill>
                <a:latin typeface="Malgun Gothic"/>
              </a:rPr>
              <a:t>📊 핵심 분석 요약</a:t>
            </a:r>
          </a:p>
          <a:p>
            <a:pPr>
              <a:spcBef>
                <a:spcPts val="1000"/>
              </a:spcBef>
            </a:pPr>
            <a:r>
              <a:rPr sz="1000">
                <a:solidFill>
                  <a:srgbClr val="F8FAFC"/>
                </a:solidFill>
                <a:latin typeface="Malgun Gothic"/>
              </a:rPr>
              <a:t>• 제1축: 양청리 호수공원 상업지구 (Lat 36.712, Lng 127.428) - 221건 집중</a:t>
            </a:r>
          </a:p>
          <a:p>
            <a:pPr>
              <a:spcBef>
                <a:spcPts val="1000"/>
              </a:spcBef>
            </a:pPr>
            <a:r>
              <a:rPr sz="1000">
                <a:solidFill>
                  <a:srgbClr val="F8FAFC"/>
                </a:solidFill>
                <a:latin typeface="Malgun Gothic"/>
              </a:rPr>
              <a:t>• 제2축: 구룡리 먹자골목 원룸단지 (Lat 36.715, Lng 127.417) - 91건 집중</a:t>
            </a:r>
          </a:p>
          <a:p>
            <a:pPr>
              <a:spcBef>
                <a:spcPts val="1000"/>
              </a:spcBef>
            </a:pPr>
            <a:r>
              <a:rPr sz="1000">
                <a:solidFill>
                  <a:srgbClr val="F8FAFC"/>
                </a:solidFill>
                <a:latin typeface="Malgun Gothic"/>
              </a:rPr>
              <a:t>• 제3축: 오창 2산단 주성리 신흥 주거지 (Lat 36.728, Lng 127.445) - 13건</a:t>
            </a:r>
          </a:p>
          <a:p>
            <a:pPr>
              <a:spcBef>
                <a:spcPts val="1000"/>
              </a:spcBef>
            </a:pPr>
            <a:r>
              <a:rPr sz="1000">
                <a:solidFill>
                  <a:srgbClr val="F8FAFC"/>
                </a:solidFill>
                <a:latin typeface="Malgun Gothic"/>
              </a:rPr>
              <a:t>• 도보 상권 선호자는 양청리, 저렴한 주거비 선호자는 구룡리로 명확히 분기</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a:solidFill>
                  <a:srgbClr val="F59E0B"/>
                </a:solidFill>
                <a:latin typeface="Malgun Gothic"/>
              </a:rPr>
              <a:t>• CHART 10</a:t>
            </a:r>
          </a:p>
        </p:txBody>
      </p:sp>
      <p:sp>
        <p:nvSpPr>
          <p:cNvPr id="3" name="TextBox 2"/>
          <p:cNvSpPr txBox="1"/>
          <p:nvPr/>
        </p:nvSpPr>
        <p:spPr>
          <a:xfrm>
            <a:off x="731520" y="685800"/>
            <a:ext cx="10515600" cy="502920"/>
          </a:xfrm>
          <a:prstGeom prst="rect">
            <a:avLst/>
          </a:prstGeom>
          <a:noFill/>
        </p:spPr>
        <p:txBody>
          <a:bodyPr wrap="square">
            <a:spAutoFit/>
          </a:bodyPr>
          <a:lstStyle/>
          <a:p>
            <a:r>
              <a:rPr sz="2000" b="1">
                <a:solidFill>
                  <a:srgbClr val="F8FAFC"/>
                </a:solidFill>
                <a:latin typeface="Malgun Gothic"/>
              </a:rPr>
              <a:t>Scikit-learn TF-IDF 핵심 키워드 Top 30</a:t>
            </a:r>
          </a:p>
        </p:txBody>
      </p:sp>
      <p:sp>
        <p:nvSpPr>
          <p:cNvPr id="4" name="TextBox 3"/>
          <p:cNvSpPr txBox="1"/>
          <p:nvPr/>
        </p:nvSpPr>
        <p:spPr>
          <a:xfrm>
            <a:off x="731520" y="1143000"/>
            <a:ext cx="10515600" cy="320040"/>
          </a:xfrm>
          <a:prstGeom prst="rect">
            <a:avLst/>
          </a:prstGeom>
          <a:noFill/>
        </p:spPr>
        <p:txBody>
          <a:bodyPr wrap="square">
            <a:spAutoFit/>
          </a:bodyPr>
          <a:lstStyle/>
          <a:p>
            <a:r>
              <a:rPr sz="1100">
                <a:solidFill>
                  <a:srgbClr val="94A3B8"/>
                </a:solidFill>
                <a:latin typeface="Malgun Gothic"/>
              </a:rPr>
              <a:t>양청리, 풀옵션, 신축, 호수공원, 분리형, 주차의 6대 핵심 소구점</a:t>
            </a:r>
          </a:p>
        </p:txBody>
      </p:sp>
      <p:sp>
        <p:nvSpPr>
          <p:cNvPr id="5" name="Rounded Rectangle 4"/>
          <p:cNvSpPr/>
          <p:nvPr/>
        </p:nvSpPr>
        <p:spPr>
          <a:xfrm>
            <a:off x="731520" y="1645920"/>
            <a:ext cx="676656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0_tfidf_keywords_top30.png"/>
          <p:cNvPicPr>
            <a:picLocks noChangeAspect="1"/>
          </p:cNvPicPr>
          <p:nvPr/>
        </p:nvPicPr>
        <p:blipFill>
          <a:blip r:embed="rId2"/>
          <a:stretch>
            <a:fillRect/>
          </a:stretch>
        </p:blipFill>
        <p:spPr>
          <a:xfrm>
            <a:off x="868680" y="1783080"/>
            <a:ext cx="6492240" cy="5193792"/>
          </a:xfrm>
          <a:prstGeom prst="rect">
            <a:avLst/>
          </a:prstGeom>
        </p:spPr>
      </p:pic>
      <p:sp>
        <p:nvSpPr>
          <p:cNvPr id="7" name="Rounded Rectangle 6"/>
          <p:cNvSpPr/>
          <p:nvPr/>
        </p:nvSpPr>
        <p:spPr>
          <a:xfrm>
            <a:off x="7680960" y="1645920"/>
            <a:ext cx="3779215"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828800"/>
            <a:ext cx="3337560" cy="4297680"/>
          </a:xfrm>
          <a:prstGeom prst="rect">
            <a:avLst/>
          </a:prstGeom>
          <a:noFill/>
        </p:spPr>
        <p:txBody>
          <a:bodyPr wrap="square">
            <a:spAutoFit/>
          </a:bodyPr>
          <a:lstStyle/>
          <a:p>
            <a:r>
              <a:rPr sz="1300" b="1">
                <a:solidFill>
                  <a:srgbClr val="F59E0B"/>
                </a:solidFill>
                <a:latin typeface="Malgun Gothic"/>
              </a:rPr>
              <a:t>📊 핵심 분석 요약</a:t>
            </a:r>
          </a:p>
          <a:p>
            <a:pPr>
              <a:spcBef>
                <a:spcPts val="1000"/>
              </a:spcBef>
            </a:pPr>
            <a:r>
              <a:rPr sz="1000">
                <a:solidFill>
                  <a:srgbClr val="F8FAFC"/>
                </a:solidFill>
                <a:latin typeface="Malgun Gothic"/>
              </a:rPr>
              <a:t>• 지역 브랜드 1위: '양청리' (38.4) 및 '구룡리' (24.8)</a:t>
            </a:r>
          </a:p>
          <a:p>
            <a:pPr>
              <a:spcBef>
                <a:spcPts val="1000"/>
              </a:spcBef>
            </a:pPr>
            <a:r>
              <a:rPr sz="1000">
                <a:solidFill>
                  <a:srgbClr val="F8FAFC"/>
                </a:solidFill>
                <a:latin typeface="Malgun Gothic"/>
              </a:rPr>
              <a:t>• 상품 필수 속성: '풀옵션' (35.1), '신축' (22.3), '분리형' (18.2)</a:t>
            </a:r>
          </a:p>
          <a:p>
            <a:pPr>
              <a:spcBef>
                <a:spcPts val="1000"/>
              </a:spcBef>
            </a:pPr>
            <a:r>
              <a:rPr sz="1000">
                <a:solidFill>
                  <a:srgbClr val="F8FAFC"/>
                </a:solidFill>
                <a:latin typeface="Malgun Gothic"/>
              </a:rPr>
              <a:t>• 생활 인프라 및 여가: '호수공원' (19.7), '주차' (16.5), '엘리베이터' (14.8)</a:t>
            </a:r>
          </a:p>
          <a:p>
            <a:pPr>
              <a:spcBef>
                <a:spcPts val="1000"/>
              </a:spcBef>
            </a:pPr>
            <a:r>
              <a:rPr sz="1000">
                <a:solidFill>
                  <a:srgbClr val="F8FAFC"/>
                </a:solidFill>
                <a:latin typeface="Malgun Gothic"/>
              </a:rPr>
              <a:t>• 산단 교대근무 및 자차 출퇴근 특성으로 '주차'와 '채광'이 핵심 결정 요인</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a:solidFill>
                  <a:srgbClr val="F59E0B"/>
                </a:solidFill>
                <a:latin typeface="Malgun Gothic"/>
              </a:rPr>
              <a:t>• CHART 11</a:t>
            </a:r>
          </a:p>
        </p:txBody>
      </p:sp>
      <p:sp>
        <p:nvSpPr>
          <p:cNvPr id="3" name="TextBox 2"/>
          <p:cNvSpPr txBox="1"/>
          <p:nvPr/>
        </p:nvSpPr>
        <p:spPr>
          <a:xfrm>
            <a:off x="731520" y="685800"/>
            <a:ext cx="10515600" cy="502920"/>
          </a:xfrm>
          <a:prstGeom prst="rect">
            <a:avLst/>
          </a:prstGeom>
          <a:noFill/>
        </p:spPr>
        <p:txBody>
          <a:bodyPr wrap="square">
            <a:spAutoFit/>
          </a:bodyPr>
          <a:lstStyle/>
          <a:p>
            <a:r>
              <a:rPr sz="2000" b="1">
                <a:solidFill>
                  <a:srgbClr val="F8FAFC"/>
                </a:solidFill>
                <a:latin typeface="Malgun Gothic"/>
              </a:rPr>
              <a:t>주요 수치형 변수 간 피어슨 상관계수 매트릭스</a:t>
            </a:r>
          </a:p>
        </p:txBody>
      </p:sp>
      <p:sp>
        <p:nvSpPr>
          <p:cNvPr id="4" name="TextBox 3"/>
          <p:cNvSpPr txBox="1"/>
          <p:nvPr/>
        </p:nvSpPr>
        <p:spPr>
          <a:xfrm>
            <a:off x="731520" y="1143000"/>
            <a:ext cx="10515600" cy="320040"/>
          </a:xfrm>
          <a:prstGeom prst="rect">
            <a:avLst/>
          </a:prstGeom>
          <a:noFill/>
        </p:spPr>
        <p:txBody>
          <a:bodyPr wrap="square">
            <a:spAutoFit/>
          </a:bodyPr>
          <a:lstStyle/>
          <a:p>
            <a:r>
              <a:rPr sz="1100">
                <a:solidFill>
                  <a:srgbClr val="94A3B8"/>
                </a:solidFill>
                <a:latin typeface="Malgun Gothic"/>
              </a:rPr>
              <a:t>월세-총비용의 완전 선형성(+0.98) 및 면적-평당비용의 음의 상관(-0.48)</a:t>
            </a:r>
          </a:p>
        </p:txBody>
      </p:sp>
      <p:sp>
        <p:nvSpPr>
          <p:cNvPr id="5" name="Rounded Rectangle 4"/>
          <p:cNvSpPr/>
          <p:nvPr/>
        </p:nvSpPr>
        <p:spPr>
          <a:xfrm>
            <a:off x="731520" y="1645920"/>
            <a:ext cx="676656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1_correlation_matrix.png"/>
          <p:cNvPicPr>
            <a:picLocks noChangeAspect="1"/>
          </p:cNvPicPr>
          <p:nvPr/>
        </p:nvPicPr>
        <p:blipFill>
          <a:blip r:embed="rId2"/>
          <a:stretch>
            <a:fillRect/>
          </a:stretch>
        </p:blipFill>
        <p:spPr>
          <a:xfrm>
            <a:off x="868680" y="1783080"/>
            <a:ext cx="6492240" cy="5049520"/>
          </a:xfrm>
          <a:prstGeom prst="rect">
            <a:avLst/>
          </a:prstGeom>
        </p:spPr>
      </p:pic>
      <p:sp>
        <p:nvSpPr>
          <p:cNvPr id="7" name="Rounded Rectangle 6"/>
          <p:cNvSpPr/>
          <p:nvPr/>
        </p:nvSpPr>
        <p:spPr>
          <a:xfrm>
            <a:off x="7680960" y="1645920"/>
            <a:ext cx="3779215"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828800"/>
            <a:ext cx="3337560" cy="4297680"/>
          </a:xfrm>
          <a:prstGeom prst="rect">
            <a:avLst/>
          </a:prstGeom>
          <a:noFill/>
        </p:spPr>
        <p:txBody>
          <a:bodyPr wrap="square">
            <a:spAutoFit/>
          </a:bodyPr>
          <a:lstStyle/>
          <a:p>
            <a:r>
              <a:rPr sz="1300" b="1">
                <a:solidFill>
                  <a:srgbClr val="F59E0B"/>
                </a:solidFill>
                <a:latin typeface="Malgun Gothic"/>
              </a:rPr>
              <a:t>📊 핵심 분석 요약</a:t>
            </a:r>
          </a:p>
          <a:p>
            <a:pPr>
              <a:spcBef>
                <a:spcPts val="1000"/>
              </a:spcBef>
            </a:pPr>
            <a:r>
              <a:rPr sz="1000">
                <a:solidFill>
                  <a:srgbClr val="F8FAFC"/>
                </a:solidFill>
                <a:latin typeface="Malgun Gothic"/>
              </a:rPr>
              <a:t>• 순수월세 ↔ 실질총주거비: r = +0.98 (실질 비용의 96%는 월세로 결정)</a:t>
            </a:r>
          </a:p>
          <a:p>
            <a:pPr>
              <a:spcBef>
                <a:spcPts val="1000"/>
              </a:spcBef>
            </a:pPr>
            <a:r>
              <a:rPr sz="1000">
                <a:solidFill>
                  <a:srgbClr val="F8FAFC"/>
                </a:solidFill>
                <a:latin typeface="Malgun Gothic"/>
              </a:rPr>
              <a:t>• 전용면적 ↔ 순수월세: r = +0.64 (면적 1평 증가 시 정비례 월세 상승)</a:t>
            </a:r>
          </a:p>
          <a:p>
            <a:pPr>
              <a:spcBef>
                <a:spcPts val="1000"/>
              </a:spcBef>
            </a:pPr>
            <a:r>
              <a:rPr sz="1000">
                <a:solidFill>
                  <a:srgbClr val="F8FAFC"/>
                </a:solidFill>
                <a:latin typeface="Malgun Gothic"/>
              </a:rPr>
              <a:t>• 전용면적 ↔ 평당비용: r = -0.48 (면적이 커질수록 평당 단가가 떨어지는 규모의 경제)</a:t>
            </a:r>
          </a:p>
          <a:p>
            <a:pPr>
              <a:spcBef>
                <a:spcPts val="1000"/>
              </a:spcBef>
            </a:pPr>
            <a:r>
              <a:rPr sz="1000">
                <a:solidFill>
                  <a:srgbClr val="F8FAFC"/>
                </a:solidFill>
                <a:latin typeface="Malgun Gothic"/>
              </a:rPr>
              <a:t>• 보증금 ↔ 순수월세: r = +0.41 (고가 주택일수록 보증금과 월세가 동반 상승)</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a:solidFill>
                  <a:srgbClr val="F59E0B"/>
                </a:solidFill>
                <a:latin typeface="Malgun Gothic"/>
              </a:rPr>
              <a:t>• STRATEGIC RECOMMENDATIONS</a:t>
            </a:r>
          </a:p>
        </p:txBody>
      </p:sp>
      <p:sp>
        <p:nvSpPr>
          <p:cNvPr id="3" name="TextBox 2"/>
          <p:cNvSpPr txBox="1"/>
          <p:nvPr/>
        </p:nvSpPr>
        <p:spPr>
          <a:xfrm>
            <a:off x="731520" y="685800"/>
            <a:ext cx="10515600" cy="502920"/>
          </a:xfrm>
          <a:prstGeom prst="rect">
            <a:avLst/>
          </a:prstGeom>
          <a:noFill/>
        </p:spPr>
        <p:txBody>
          <a:bodyPr wrap="square">
            <a:spAutoFit/>
          </a:bodyPr>
          <a:lstStyle/>
          <a:p>
            <a:r>
              <a:rPr sz="2000" b="1">
                <a:solidFill>
                  <a:srgbClr val="F8FAFC"/>
                </a:solidFill>
                <a:latin typeface="Malgun Gothic"/>
              </a:rPr>
              <a:t>종합 결론: 이해관계자별 실행 로드맵</a:t>
            </a:r>
          </a:p>
        </p:txBody>
      </p:sp>
      <p:sp>
        <p:nvSpPr>
          <p:cNvPr id="4" name="TextBox 3"/>
          <p:cNvSpPr txBox="1"/>
          <p:nvPr/>
        </p:nvSpPr>
        <p:spPr>
          <a:xfrm>
            <a:off x="731520" y="1143000"/>
            <a:ext cx="10515600" cy="320040"/>
          </a:xfrm>
          <a:prstGeom prst="rect">
            <a:avLst/>
          </a:prstGeom>
          <a:noFill/>
        </p:spPr>
        <p:txBody>
          <a:bodyPr wrap="square">
            <a:spAutoFit/>
          </a:bodyPr>
          <a:lstStyle/>
          <a:p>
            <a:r>
              <a:rPr sz="1100">
                <a:solidFill>
                  <a:srgbClr val="94A3B8"/>
                </a:solidFill>
                <a:latin typeface="Malgun Gothic"/>
              </a:rPr>
              <a:t>청년 임차인, 임대인 자산관리자, 지자체 정책 입안자를 위한 데이터 기반 제언</a:t>
            </a:r>
          </a:p>
        </p:txBody>
      </p:sp>
      <p:sp>
        <p:nvSpPr>
          <p:cNvPr id="5" name="Rounded Rectangle 4"/>
          <p:cNvSpPr/>
          <p:nvPr/>
        </p:nvSpPr>
        <p:spPr>
          <a:xfrm>
            <a:off x="731520" y="1645920"/>
            <a:ext cx="342900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971800" cy="4114800"/>
          </a:xfrm>
          <a:prstGeom prst="rect">
            <a:avLst/>
          </a:prstGeom>
          <a:noFill/>
        </p:spPr>
        <p:txBody>
          <a:bodyPr wrap="square">
            <a:spAutoFit/>
          </a:bodyPr>
          <a:lstStyle/>
          <a:p>
            <a:r>
              <a:rPr sz="1400" b="1">
                <a:solidFill>
                  <a:srgbClr val="3B82F6"/>
                </a:solidFill>
                <a:latin typeface="Malgun Gothic"/>
              </a:rPr>
              <a:t>청년 임차인 / 연구원</a:t>
            </a:r>
          </a:p>
          <a:p>
            <a:pPr>
              <a:spcBef>
                <a:spcPts val="400"/>
              </a:spcBef>
            </a:pPr>
            <a:r>
              <a:rPr sz="1100" b="1">
                <a:solidFill>
                  <a:srgbClr val="F8FAFC"/>
                </a:solidFill>
                <a:latin typeface="Malgun Gothic"/>
              </a:rPr>
              <a:t>가성비 극대화 및 지출 방어</a:t>
            </a:r>
          </a:p>
          <a:p>
            <a:pPr>
              <a:spcBef>
                <a:spcPts val="1000"/>
              </a:spcBef>
            </a:pPr>
            <a:r>
              <a:rPr sz="950">
                <a:solidFill>
                  <a:srgbClr val="94A3B8"/>
                </a:solidFill>
                <a:latin typeface="Malgun Gothic"/>
              </a:rPr>
              <a:t>• 평당 4.0만 원 선의 투룸을 임차하여 드레스룸/서재 분리 활용</a:t>
            </a:r>
          </a:p>
          <a:p>
            <a:pPr>
              <a:spcBef>
                <a:spcPts val="1000"/>
              </a:spcBef>
            </a:pPr>
            <a:r>
              <a:rPr sz="950">
                <a:solidFill>
                  <a:srgbClr val="94A3B8"/>
                </a:solidFill>
                <a:latin typeface="Malgun Gothic"/>
              </a:rPr>
              <a:t>• 도보 상권 선호 시 양청리, 최저 주거비 추구 시 구룡리 선택</a:t>
            </a:r>
          </a:p>
          <a:p>
            <a:pPr>
              <a:spcBef>
                <a:spcPts val="1000"/>
              </a:spcBef>
            </a:pPr>
            <a:r>
              <a:rPr sz="950">
                <a:solidFill>
                  <a:srgbClr val="94A3B8"/>
                </a:solidFill>
                <a:latin typeface="Malgun Gothic"/>
              </a:rPr>
              <a:t>• 표면 월세보다 '월세+관리비' 합산 실질 총주거비 기준 계약</a:t>
            </a:r>
          </a:p>
        </p:txBody>
      </p:sp>
      <p:sp>
        <p:nvSpPr>
          <p:cNvPr id="7" name="Rounded Rectangle 6"/>
          <p:cNvSpPr/>
          <p:nvPr/>
        </p:nvSpPr>
        <p:spPr>
          <a:xfrm>
            <a:off x="4343400" y="1645920"/>
            <a:ext cx="342900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28800"/>
            <a:ext cx="2971800" cy="4114800"/>
          </a:xfrm>
          <a:prstGeom prst="rect">
            <a:avLst/>
          </a:prstGeom>
          <a:noFill/>
        </p:spPr>
        <p:txBody>
          <a:bodyPr wrap="square">
            <a:spAutoFit/>
          </a:bodyPr>
          <a:lstStyle/>
          <a:p>
            <a:r>
              <a:rPr sz="1400" b="1">
                <a:solidFill>
                  <a:srgbClr val="F59E0B"/>
                </a:solidFill>
                <a:latin typeface="Malgun Gothic"/>
              </a:rPr>
              <a:t>임대인 / 자산관리자</a:t>
            </a:r>
          </a:p>
          <a:p>
            <a:pPr>
              <a:spcBef>
                <a:spcPts val="400"/>
              </a:spcBef>
            </a:pPr>
            <a:r>
              <a:rPr sz="1100" b="1">
                <a:solidFill>
                  <a:srgbClr val="F8FAFC"/>
                </a:solidFill>
                <a:latin typeface="Malgun Gothic"/>
              </a:rPr>
              <a:t>공실률 제로 및 수익률 제고</a:t>
            </a:r>
          </a:p>
          <a:p>
            <a:pPr>
              <a:spcBef>
                <a:spcPts val="1000"/>
              </a:spcBef>
            </a:pPr>
            <a:r>
              <a:rPr sz="950">
                <a:solidFill>
                  <a:srgbClr val="94A3B8"/>
                </a:solidFill>
                <a:latin typeface="Malgun Gothic"/>
              </a:rPr>
              <a:t>• 승강기 설치 및 전용 주차 공간 확충으로 월 +9.7만 원 프리미엄 확보</a:t>
            </a:r>
          </a:p>
          <a:p>
            <a:pPr>
              <a:spcBef>
                <a:spcPts val="1000"/>
              </a:spcBef>
            </a:pPr>
            <a:r>
              <a:rPr sz="950">
                <a:solidFill>
                  <a:srgbClr val="94A3B8"/>
                </a:solidFill>
                <a:latin typeface="Malgun Gothic"/>
              </a:rPr>
              <a:t>• 노후 단독 원룸 리모델링 시 슬라이딩 도어 적용 1.5룸화 전환</a:t>
            </a:r>
          </a:p>
          <a:p>
            <a:pPr>
              <a:spcBef>
                <a:spcPts val="1000"/>
              </a:spcBef>
            </a:pPr>
            <a:r>
              <a:rPr sz="950">
                <a:solidFill>
                  <a:srgbClr val="94A3B8"/>
                </a:solidFill>
                <a:latin typeface="Malgun Gothic"/>
              </a:rPr>
              <a:t>• 단순 풀옵션을 넘어 전자레인지, 건조기 등 차별화 옵션 완비</a:t>
            </a:r>
          </a:p>
        </p:txBody>
      </p:sp>
      <p:sp>
        <p:nvSpPr>
          <p:cNvPr id="9" name="Rounded Rectangle 8"/>
          <p:cNvSpPr/>
          <p:nvPr/>
        </p:nvSpPr>
        <p:spPr>
          <a:xfrm>
            <a:off x="7955280" y="1645920"/>
            <a:ext cx="342900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828800"/>
            <a:ext cx="2971800" cy="4114800"/>
          </a:xfrm>
          <a:prstGeom prst="rect">
            <a:avLst/>
          </a:prstGeom>
          <a:noFill/>
        </p:spPr>
        <p:txBody>
          <a:bodyPr wrap="square">
            <a:spAutoFit/>
          </a:bodyPr>
          <a:lstStyle/>
          <a:p>
            <a:r>
              <a:rPr sz="1400" b="1">
                <a:solidFill>
                  <a:srgbClr val="14B8A6"/>
                </a:solidFill>
                <a:latin typeface="Malgun Gothic"/>
              </a:rPr>
              <a:t>지자체 / 정책 입안자</a:t>
            </a:r>
          </a:p>
          <a:p>
            <a:pPr>
              <a:spcBef>
                <a:spcPts val="400"/>
              </a:spcBef>
            </a:pPr>
            <a:r>
              <a:rPr sz="1100" b="1">
                <a:solidFill>
                  <a:srgbClr val="F8FAFC"/>
                </a:solidFill>
                <a:latin typeface="Malgun Gothic"/>
              </a:rPr>
              <a:t>산단 청년 정착 주거 지원</a:t>
            </a:r>
          </a:p>
          <a:p>
            <a:pPr>
              <a:spcBef>
                <a:spcPts val="1000"/>
              </a:spcBef>
            </a:pPr>
            <a:r>
              <a:rPr sz="950">
                <a:solidFill>
                  <a:srgbClr val="94A3B8"/>
                </a:solidFill>
                <a:latin typeface="Malgun Gothic"/>
              </a:rPr>
              <a:t>• 청년 주거비 지원 기준을 관리비 포함 실질 45~50만 원 선으로 현실화</a:t>
            </a:r>
          </a:p>
          <a:p>
            <a:pPr>
              <a:spcBef>
                <a:spcPts val="1000"/>
              </a:spcBef>
            </a:pPr>
            <a:r>
              <a:rPr sz="950">
                <a:solidFill>
                  <a:srgbClr val="94A3B8"/>
                </a:solidFill>
                <a:latin typeface="Malgun Gothic"/>
              </a:rPr>
              <a:t>• 원룸 밀집 구시가지(구룡리) 공용 안심 주차장 및 방범 인프라 확충</a:t>
            </a:r>
          </a:p>
          <a:p>
            <a:pPr>
              <a:spcBef>
                <a:spcPts val="1000"/>
              </a:spcBef>
            </a:pPr>
            <a:r>
              <a:rPr sz="950">
                <a:solidFill>
                  <a:srgbClr val="94A3B8"/>
                </a:solidFill>
                <a:latin typeface="Malgun Gothic"/>
              </a:rPr>
              <a:t>• 2차전지·반도체 첨단 R&amp;D 인력 유치를 위한 소형 공공임대 확대</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